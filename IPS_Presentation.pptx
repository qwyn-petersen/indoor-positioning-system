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7" r:id="rId4"/>
    <p:sldMasterId id="214748373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embeddedFontLst>
    <p:embeddedFont>
      <p:font typeface="DM Sans Medium"/>
      <p:regular r:id="rId57"/>
      <p:bold r:id="rId58"/>
      <p:italic r:id="rId59"/>
      <p:boldItalic r:id="rId60"/>
    </p:embeddedFont>
    <p:embeddedFont>
      <p:font typeface="Della Respira"/>
      <p:regular r:id="rId61"/>
    </p:embeddedFont>
    <p:embeddedFont>
      <p:font typeface="DM Sans Light"/>
      <p:regular r:id="rId62"/>
      <p:bold r:id="rId63"/>
      <p:italic r:id="rId64"/>
      <p:boldItalic r:id="rId65"/>
    </p:embeddedFont>
    <p:embeddedFont>
      <p:font typeface="DM Sans"/>
      <p:regular r:id="rId66"/>
      <p:bold r:id="rId67"/>
      <p:italic r:id="rId68"/>
      <p:boldItalic r:id="rId69"/>
    </p:embeddedFont>
    <p:embeddedFont>
      <p:font typeface="Merriweather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Merriweather-boldItalic.fntdata"/><Relationship Id="rId72" Type="http://schemas.openxmlformats.org/officeDocument/2006/relationships/font" Target="fonts/Merriweather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Merriweather-bold.fntdata"/><Relationship Id="rId70" Type="http://schemas.openxmlformats.org/officeDocument/2006/relationships/font" Target="fonts/Merriweather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DMSansLight-regular.fntdata"/><Relationship Id="rId61" Type="http://schemas.openxmlformats.org/officeDocument/2006/relationships/font" Target="fonts/DellaRespira-regular.fntdata"/><Relationship Id="rId20" Type="http://schemas.openxmlformats.org/officeDocument/2006/relationships/slide" Target="slides/slide14.xml"/><Relationship Id="rId64" Type="http://schemas.openxmlformats.org/officeDocument/2006/relationships/font" Target="fonts/DMSansLight-italic.fntdata"/><Relationship Id="rId63" Type="http://schemas.openxmlformats.org/officeDocument/2006/relationships/font" Target="fonts/DMSansLight-bold.fntdata"/><Relationship Id="rId22" Type="http://schemas.openxmlformats.org/officeDocument/2006/relationships/slide" Target="slides/slide16.xml"/><Relationship Id="rId66" Type="http://schemas.openxmlformats.org/officeDocument/2006/relationships/font" Target="fonts/DMSans-regular.fntdata"/><Relationship Id="rId21" Type="http://schemas.openxmlformats.org/officeDocument/2006/relationships/slide" Target="slides/slide15.xml"/><Relationship Id="rId65" Type="http://schemas.openxmlformats.org/officeDocument/2006/relationships/font" Target="fonts/DMSansLight-boldItalic.fntdata"/><Relationship Id="rId24" Type="http://schemas.openxmlformats.org/officeDocument/2006/relationships/slide" Target="slides/slide18.xml"/><Relationship Id="rId68" Type="http://schemas.openxmlformats.org/officeDocument/2006/relationships/font" Target="fonts/DMSans-italic.fntdata"/><Relationship Id="rId23" Type="http://schemas.openxmlformats.org/officeDocument/2006/relationships/slide" Target="slides/slide17.xml"/><Relationship Id="rId67" Type="http://schemas.openxmlformats.org/officeDocument/2006/relationships/font" Target="fonts/DMSans-bold.fntdata"/><Relationship Id="rId60" Type="http://schemas.openxmlformats.org/officeDocument/2006/relationships/font" Target="fonts/DMSansMedium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DMSans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DMSansMedium-regular.fnt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DMSansMedium-italic.fntdata"/><Relationship Id="rId14" Type="http://schemas.openxmlformats.org/officeDocument/2006/relationships/slide" Target="slides/slide8.xml"/><Relationship Id="rId58" Type="http://schemas.openxmlformats.org/officeDocument/2006/relationships/font" Target="fonts/DMSans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1f20cc3e06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1f20cc3e06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1f20cc3e06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1f20cc3e06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1f20cc3e06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1f20cc3e06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1f20cc3e06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1f20cc3e06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1d883b069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1d883b069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1f20cc3e06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1f20cc3e06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1f20cc3e06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1f20cc3e06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1f20cc3e06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1f20cc3e06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1d16b8bf8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1d16b8bf8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1d16b8bf8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1d16b8bf8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20f359d82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20f359d82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1d16b8bf8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1d16b8bf8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20f359d8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20f359d8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2102c653c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2102c653c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1f20cc3e06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1f20cc3e06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20f359d82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20f359d82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1d16b8bf80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1d16b8bf80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1d22b3252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1d22b3252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20f359d82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20f359d82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1d22b3252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1d22b3252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1d22b3252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1d22b3252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0f359d82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20f359d82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1f20cc3e06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1f20cc3e06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102c653c2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2102c653c2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2102c653c2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2102c653c2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2102c653c2_2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32102c653c2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2102c653c2_2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32102c653c2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20f359d82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320f359d82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2116fbed1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32116fbed1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2102c653c2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2102c653c2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1d883b069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1d883b069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2116fbed1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2116fbed1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2102c653c2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2102c653c2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20f359d82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20f359d82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Residual plot for each observation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2102c653c2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2102c653c2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20f359d82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20f359d82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shows if it is </a:t>
            </a:r>
            <a:r>
              <a:rPr lang="en"/>
              <a:t>normally</a:t>
            </a:r>
            <a:r>
              <a:rPr lang="en"/>
              <a:t> distributed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2102c653c2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2102c653c2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20f359d82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20f359d82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equal variance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2102c653c2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32102c653c2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2102c653c2_2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2102c653c2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2102c653c2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2102c653c2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2102c653c2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2102c653c2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20f359d82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20f359d82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Notice where they are </a:t>
            </a:r>
            <a:r>
              <a:rPr lang="en"/>
              <a:t>obstacles</a:t>
            </a:r>
            <a:r>
              <a:rPr lang="en"/>
              <a:t> between the locations and the routers. Could it influence the model?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20f359d82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20f359d82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2102c653c2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2102c653c2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1f20cc3e06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31f20cc3e06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1d883b069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1d883b069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20f359d82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320f359d82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1d883b069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31d883b069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1f20cc3e06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31f20cc3e06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50" y="284775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74950" y="2975835"/>
            <a:ext cx="4201200" cy="13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74950" y="4501727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279625" y="4509075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6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274950" y="1318300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74725" y="1346288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>
            <p:ph idx="2" type="pic"/>
          </p:nvPr>
        </p:nvSpPr>
        <p:spPr>
          <a:xfrm>
            <a:off x="4676850" y="1342250"/>
            <a:ext cx="4201200" cy="3510600"/>
          </a:xfrm>
          <a:prstGeom prst="roundRect">
            <a:avLst>
              <a:gd fmla="val 5775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s and Assigned Sections">
  <p:cSld name="CUSTOM_2">
    <p:bg>
      <p:bgPr>
        <a:solidFill>
          <a:schemeClr val="lt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>
            <p:ph idx="2" type="pic"/>
          </p:nvPr>
        </p:nvSpPr>
        <p:spPr>
          <a:xfrm>
            <a:off x="38362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27510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" name="Google Shape;29;p5"/>
          <p:cNvSpPr/>
          <p:nvPr/>
        </p:nvSpPr>
        <p:spPr>
          <a:xfrm>
            <a:off x="27510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247785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67272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87547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47785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4" name="Google Shape;34;p5"/>
          <p:cNvSpPr/>
          <p:nvPr/>
        </p:nvSpPr>
        <p:spPr>
          <a:xfrm>
            <a:off x="4676663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5" name="Google Shape;35;p5"/>
          <p:cNvSpPr/>
          <p:nvPr/>
        </p:nvSpPr>
        <p:spPr>
          <a:xfrm>
            <a:off x="6875475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274950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2475813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467563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5" type="subTitle"/>
          </p:nvPr>
        </p:nvSpPr>
        <p:spPr>
          <a:xfrm>
            <a:off x="687548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6" type="subTitle"/>
          </p:nvPr>
        </p:nvSpPr>
        <p:spPr>
          <a:xfrm>
            <a:off x="2749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2" name="Google Shape;42;p5"/>
          <p:cNvSpPr txBox="1"/>
          <p:nvPr>
            <p:ph idx="7" type="subTitle"/>
          </p:nvPr>
        </p:nvSpPr>
        <p:spPr>
          <a:xfrm>
            <a:off x="24778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3" name="Google Shape;43;p5"/>
          <p:cNvSpPr txBox="1"/>
          <p:nvPr>
            <p:ph idx="8" type="subTitle"/>
          </p:nvPr>
        </p:nvSpPr>
        <p:spPr>
          <a:xfrm>
            <a:off x="4676663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4" name="Google Shape;44;p5"/>
          <p:cNvSpPr txBox="1"/>
          <p:nvPr>
            <p:ph idx="9" type="subTitle"/>
          </p:nvPr>
        </p:nvSpPr>
        <p:spPr>
          <a:xfrm>
            <a:off x="6867588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5" name="Google Shape;45;p5"/>
          <p:cNvSpPr/>
          <p:nvPr>
            <p:ph idx="13" type="pic"/>
          </p:nvPr>
        </p:nvSpPr>
        <p:spPr>
          <a:xfrm>
            <a:off x="257980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5"/>
          <p:cNvSpPr/>
          <p:nvPr>
            <p:ph idx="14" type="pic"/>
          </p:nvPr>
        </p:nvSpPr>
        <p:spPr>
          <a:xfrm>
            <a:off x="477597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5"/>
          <p:cNvSpPr/>
          <p:nvPr>
            <p:ph idx="15" type="pic"/>
          </p:nvPr>
        </p:nvSpPr>
        <p:spPr>
          <a:xfrm>
            <a:off x="697215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1655875" y="13481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655875" y="21003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655875" y="28370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1655875" y="35736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655875" y="43155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274950" y="13480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56" name="Google Shape;56;p6"/>
          <p:cNvSpPr/>
          <p:nvPr/>
        </p:nvSpPr>
        <p:spPr>
          <a:xfrm>
            <a:off x="274950" y="2092550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7" name="Google Shape;57;p6"/>
          <p:cNvSpPr/>
          <p:nvPr/>
        </p:nvSpPr>
        <p:spPr>
          <a:xfrm>
            <a:off x="274950" y="28370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8" name="Google Shape;58;p6"/>
          <p:cNvSpPr/>
          <p:nvPr/>
        </p:nvSpPr>
        <p:spPr>
          <a:xfrm>
            <a:off x="274950" y="35736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9" name="Google Shape;59;p6"/>
          <p:cNvSpPr/>
          <p:nvPr/>
        </p:nvSpPr>
        <p:spPr>
          <a:xfrm>
            <a:off x="274950" y="43103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61" name="Google Shape;61;p6"/>
          <p:cNvSpPr txBox="1"/>
          <p:nvPr>
            <p:ph idx="1" type="subTitle"/>
          </p:nvPr>
        </p:nvSpPr>
        <p:spPr>
          <a:xfrm>
            <a:off x="1655875" y="13480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2" type="subTitle"/>
          </p:nvPr>
        </p:nvSpPr>
        <p:spPr>
          <a:xfrm>
            <a:off x="1655875" y="2092550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3" type="subTitle"/>
          </p:nvPr>
        </p:nvSpPr>
        <p:spPr>
          <a:xfrm>
            <a:off x="1655875" y="28370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idx="4" type="subTitle"/>
          </p:nvPr>
        </p:nvSpPr>
        <p:spPr>
          <a:xfrm>
            <a:off x="1655875" y="35762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5" type="subTitle"/>
          </p:nvPr>
        </p:nvSpPr>
        <p:spPr>
          <a:xfrm>
            <a:off x="1655875" y="43155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6" type="subTitle"/>
          </p:nvPr>
        </p:nvSpPr>
        <p:spPr>
          <a:xfrm flipH="1">
            <a:off x="91975" y="13690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7" type="subTitle"/>
          </p:nvPr>
        </p:nvSpPr>
        <p:spPr>
          <a:xfrm flipH="1">
            <a:off x="91975" y="21135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8" type="subTitle"/>
          </p:nvPr>
        </p:nvSpPr>
        <p:spPr>
          <a:xfrm flipH="1">
            <a:off x="91975" y="28540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9" type="subTitle"/>
          </p:nvPr>
        </p:nvSpPr>
        <p:spPr>
          <a:xfrm flipH="1">
            <a:off x="91975" y="35926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3" type="subTitle"/>
          </p:nvPr>
        </p:nvSpPr>
        <p:spPr>
          <a:xfrm flipH="1">
            <a:off x="91975" y="43364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1">
  <p:cSld name="CUSTOM_4">
    <p:bg>
      <p:bgPr>
        <a:solidFill>
          <a:schemeClr val="dk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>
            <p:ph idx="2" type="pic"/>
          </p:nvPr>
        </p:nvSpPr>
        <p:spPr>
          <a:xfrm>
            <a:off x="4676850" y="279050"/>
            <a:ext cx="4201200" cy="4573800"/>
          </a:xfrm>
          <a:prstGeom prst="roundRect">
            <a:avLst>
              <a:gd fmla="val 4826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7"/>
          <p:cNvSpPr/>
          <p:nvPr/>
        </p:nvSpPr>
        <p:spPr>
          <a:xfrm>
            <a:off x="274950" y="1164975"/>
            <a:ext cx="42012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510325" y="1412150"/>
            <a:ext cx="37332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5" name="Google Shape;75;p7"/>
          <p:cNvSpPr/>
          <p:nvPr/>
        </p:nvSpPr>
        <p:spPr>
          <a:xfrm>
            <a:off x="274950" y="284775"/>
            <a:ext cx="4201200" cy="704400"/>
          </a:xfrm>
          <a:prstGeom prst="roundRect">
            <a:avLst>
              <a:gd fmla="val 25275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72650" y="327125"/>
            <a:ext cx="4201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77" name="Google Shape;77;p7"/>
          <p:cNvSpPr/>
          <p:nvPr/>
        </p:nvSpPr>
        <p:spPr>
          <a:xfrm>
            <a:off x="8008325" y="109825"/>
            <a:ext cx="1018200" cy="395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78" name="Google Shape;78;p7"/>
          <p:cNvSpPr txBox="1"/>
          <p:nvPr>
            <p:ph idx="3" type="subTitle"/>
          </p:nvPr>
        </p:nvSpPr>
        <p:spPr>
          <a:xfrm>
            <a:off x="8008325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2">
  <p:cSld name="CUSTOM_5"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/>
          <p:nvPr>
            <p:ph idx="2" type="pic"/>
          </p:nvPr>
        </p:nvSpPr>
        <p:spPr>
          <a:xfrm>
            <a:off x="6781525" y="279050"/>
            <a:ext cx="2096400" cy="4573800"/>
          </a:xfrm>
          <a:prstGeom prst="roundRect">
            <a:avLst>
              <a:gd fmla="val 965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8"/>
          <p:cNvSpPr/>
          <p:nvPr/>
        </p:nvSpPr>
        <p:spPr>
          <a:xfrm>
            <a:off x="274950" y="1164975"/>
            <a:ext cx="63045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52284" y="1335950"/>
            <a:ext cx="5739600" cy="31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3" name="Google Shape;83;p8"/>
          <p:cNvSpPr/>
          <p:nvPr/>
        </p:nvSpPr>
        <p:spPr>
          <a:xfrm>
            <a:off x="274950" y="284775"/>
            <a:ext cx="34179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84" name="Google Shape;84;p8"/>
          <p:cNvSpPr txBox="1"/>
          <p:nvPr>
            <p:ph type="title"/>
          </p:nvPr>
        </p:nvSpPr>
        <p:spPr>
          <a:xfrm>
            <a:off x="272650" y="327125"/>
            <a:ext cx="34179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85" name="Google Shape;85;p8"/>
          <p:cNvSpPr/>
          <p:nvPr/>
        </p:nvSpPr>
        <p:spPr>
          <a:xfrm>
            <a:off x="3890600" y="284775"/>
            <a:ext cx="2688900" cy="704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86" name="Google Shape;86;p8"/>
          <p:cNvSpPr txBox="1"/>
          <p:nvPr>
            <p:ph idx="3" type="subTitle"/>
          </p:nvPr>
        </p:nvSpPr>
        <p:spPr>
          <a:xfrm>
            <a:off x="3890675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3">
  <p:cSld name="CUSTOM_6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>
            <a:off x="274950" y="1164975"/>
            <a:ext cx="85989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9" name="Google Shape;89;p9"/>
          <p:cNvSpPr txBox="1"/>
          <p:nvPr>
            <p:ph idx="1" type="body"/>
          </p:nvPr>
        </p:nvSpPr>
        <p:spPr>
          <a:xfrm>
            <a:off x="552275" y="1405150"/>
            <a:ext cx="80604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0" name="Google Shape;90;p9"/>
          <p:cNvSpPr/>
          <p:nvPr/>
        </p:nvSpPr>
        <p:spPr>
          <a:xfrm>
            <a:off x="274950" y="284775"/>
            <a:ext cx="5719200" cy="70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91" name="Google Shape;91;p9"/>
          <p:cNvSpPr/>
          <p:nvPr/>
        </p:nvSpPr>
        <p:spPr>
          <a:xfrm>
            <a:off x="6184900" y="284775"/>
            <a:ext cx="26889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92" name="Google Shape;92;p9"/>
          <p:cNvSpPr txBox="1"/>
          <p:nvPr>
            <p:ph type="title"/>
          </p:nvPr>
        </p:nvSpPr>
        <p:spPr>
          <a:xfrm>
            <a:off x="272650" y="327125"/>
            <a:ext cx="5719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93" name="Google Shape;93;p9"/>
          <p:cNvSpPr/>
          <p:nvPr/>
        </p:nvSpPr>
        <p:spPr>
          <a:xfrm>
            <a:off x="109155" y="109825"/>
            <a:ext cx="1018200" cy="395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94" name="Google Shape;94;p9"/>
          <p:cNvSpPr txBox="1"/>
          <p:nvPr>
            <p:ph idx="2" type="subTitle"/>
          </p:nvPr>
        </p:nvSpPr>
        <p:spPr>
          <a:xfrm>
            <a:off x="109150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3" type="subTitle"/>
          </p:nvPr>
        </p:nvSpPr>
        <p:spPr>
          <a:xfrm>
            <a:off x="6184900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">
  <p:cSld name="CUSTOM_7">
    <p:bg>
      <p:bgPr>
        <a:solidFill>
          <a:schemeClr val="dk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/>
          <p:nvPr>
            <p:ph idx="2" type="pic"/>
          </p:nvPr>
        </p:nvSpPr>
        <p:spPr>
          <a:xfrm>
            <a:off x="27495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0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99" name="Google Shape;99;p10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00" name="Google Shape;100;p10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01" name="Google Shape;101;p10"/>
          <p:cNvSpPr txBox="1"/>
          <p:nvPr/>
        </p:nvSpPr>
        <p:spPr>
          <a:xfrm>
            <a:off x="2840350" y="1414100"/>
            <a:ext cx="57402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10"/>
          <p:cNvSpPr txBox="1"/>
          <p:nvPr>
            <p:ph idx="1" type="body"/>
          </p:nvPr>
        </p:nvSpPr>
        <p:spPr>
          <a:xfrm>
            <a:off x="2845275" y="1412150"/>
            <a:ext cx="57324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04" name="Google Shape;104;p10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Alt">
  <p:cSld name="CUSTOM_7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>
            <p:ph idx="2" type="pic"/>
          </p:nvPr>
        </p:nvSpPr>
        <p:spPr>
          <a:xfrm>
            <a:off x="2547100" y="1159275"/>
            <a:ext cx="6326700" cy="3705000"/>
          </a:xfrm>
          <a:prstGeom prst="roundRect">
            <a:avLst>
              <a:gd fmla="val 653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1"/>
          <p:cNvSpPr txBox="1"/>
          <p:nvPr>
            <p:ph idx="1" type="body"/>
          </p:nvPr>
        </p:nvSpPr>
        <p:spPr>
          <a:xfrm>
            <a:off x="496375" y="1377200"/>
            <a:ext cx="1663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8" name="Google Shape;108;p11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09" name="Google Shape;109;p11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10" name="Google Shape;110;p11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11" name="Google Shape;111;p11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Editable">
  <p:cSld name="CUSTOM_7_1_1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/>
          <p:nvPr>
            <p:ph idx="2" type="pic"/>
          </p:nvPr>
        </p:nvSpPr>
        <p:spPr>
          <a:xfrm>
            <a:off x="4672600" y="1159275"/>
            <a:ext cx="4201200" cy="3705000"/>
          </a:xfrm>
          <a:prstGeom prst="roundRect">
            <a:avLst>
              <a:gd fmla="val 629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496375" y="1377200"/>
            <a:ext cx="3772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15" name="Google Shape;115;p12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16" name="Google Shape;116;p12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17" name="Google Shape;117;p12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18" name="Google Shape;118;p12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2">
  <p:cSld name="CUSTOM_8"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/>
          <p:nvPr>
            <p:ph idx="2" type="pic"/>
          </p:nvPr>
        </p:nvSpPr>
        <p:spPr>
          <a:xfrm>
            <a:off x="677740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3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22" name="Google Shape;122;p13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23" name="Google Shape;123;p13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24" name="Google Shape;124;p13"/>
          <p:cNvSpPr/>
          <p:nvPr/>
        </p:nvSpPr>
        <p:spPr>
          <a:xfrm>
            <a:off x="6777400" y="2847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25" name="Google Shape;125;p13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26" name="Google Shape;126;p13"/>
          <p:cNvSpPr txBox="1"/>
          <p:nvPr>
            <p:ph idx="3" type="subTitle"/>
          </p:nvPr>
        </p:nvSpPr>
        <p:spPr>
          <a:xfrm>
            <a:off x="677740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3">
  <p:cSld name="CUSTOM_9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/>
          <p:nvPr>
            <p:ph idx="2" type="pic"/>
          </p:nvPr>
        </p:nvSpPr>
        <p:spPr>
          <a:xfrm>
            <a:off x="27495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4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2819407" y="1323219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1" name="Google Shape;131;p14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32" name="Google Shape;132;p14"/>
          <p:cNvSpPr/>
          <p:nvPr/>
        </p:nvSpPr>
        <p:spPr>
          <a:xfrm>
            <a:off x="274950" y="41541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33" name="Google Shape;133;p14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34" name="Google Shape;134;p14"/>
          <p:cNvSpPr txBox="1"/>
          <p:nvPr>
            <p:ph idx="3" type="subTitle"/>
          </p:nvPr>
        </p:nvSpPr>
        <p:spPr>
          <a:xfrm>
            <a:off x="27495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4">
  <p:cSld name="CUSTOM_10">
    <p:bg>
      <p:bgPr>
        <a:solidFill>
          <a:schemeClr val="accen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37" name="Google Shape;137;p15"/>
          <p:cNvSpPr txBox="1"/>
          <p:nvPr>
            <p:ph idx="1" type="body"/>
          </p:nvPr>
        </p:nvSpPr>
        <p:spPr>
          <a:xfrm>
            <a:off x="559275" y="1335950"/>
            <a:ext cx="57603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8" name="Google Shape;138;p15"/>
          <p:cNvSpPr/>
          <p:nvPr>
            <p:ph idx="2" type="pic"/>
          </p:nvPr>
        </p:nvSpPr>
        <p:spPr>
          <a:xfrm>
            <a:off x="677740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40" name="Google Shape;140;p15"/>
          <p:cNvSpPr/>
          <p:nvPr/>
        </p:nvSpPr>
        <p:spPr>
          <a:xfrm>
            <a:off x="6777400" y="41541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41" name="Google Shape;141;p15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42" name="Google Shape;142;p15"/>
          <p:cNvSpPr txBox="1"/>
          <p:nvPr>
            <p:ph idx="3" type="subTitle"/>
          </p:nvPr>
        </p:nvSpPr>
        <p:spPr>
          <a:xfrm>
            <a:off x="677740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49010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6" name="Google Shape;146;p16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7" name="Google Shape;147;p16"/>
          <p:cNvSpPr txBox="1"/>
          <p:nvPr>
            <p:ph idx="2" type="body"/>
          </p:nvPr>
        </p:nvSpPr>
        <p:spPr>
          <a:xfrm>
            <a:off x="5033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49" name="Google Shape;149;p1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6">
  <p:cSld name="CUSTOM_12">
    <p:bg>
      <p:bgPr>
        <a:solidFill>
          <a:schemeClr val="lt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3" name="Google Shape;153;p17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5" name="Google Shape;155;p17"/>
          <p:cNvSpPr/>
          <p:nvPr/>
        </p:nvSpPr>
        <p:spPr>
          <a:xfrm>
            <a:off x="7318600" y="109825"/>
            <a:ext cx="1705500" cy="395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56" name="Google Shape;156;p1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57" name="Google Shape;157;p17"/>
          <p:cNvSpPr txBox="1"/>
          <p:nvPr>
            <p:ph idx="3" type="subTitle"/>
          </p:nvPr>
        </p:nvSpPr>
        <p:spPr>
          <a:xfrm>
            <a:off x="7318600" y="109825"/>
            <a:ext cx="17055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">
  <p:cSld name="CUSTOM_13">
    <p:bg>
      <p:bgPr>
        <a:solidFill>
          <a:schemeClr val="dk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/>
          <p:nvPr>
            <p:ph idx="2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8"/>
          <p:cNvSpPr/>
          <p:nvPr/>
        </p:nvSpPr>
        <p:spPr>
          <a:xfrm>
            <a:off x="274950" y="1348125"/>
            <a:ext cx="62859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494800" y="1503725"/>
            <a:ext cx="58377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62" name="Google Shape;162;p1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 2">
  <p:cSld name="CUSTOM_14"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134750" y="4315525"/>
            <a:ext cx="54342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274950" y="134807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168" name="Google Shape;168;p19"/>
          <p:cNvSpPr/>
          <p:nvPr/>
        </p:nvSpPr>
        <p:spPr>
          <a:xfrm>
            <a:off x="274950" y="28370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69" name="Google Shape;169;p19"/>
          <p:cNvSpPr/>
          <p:nvPr/>
        </p:nvSpPr>
        <p:spPr>
          <a:xfrm>
            <a:off x="274950" y="43103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70" name="Google Shape;170;p19"/>
          <p:cNvSpPr/>
          <p:nvPr/>
        </p:nvSpPr>
        <p:spPr>
          <a:xfrm>
            <a:off x="1134750" y="1338000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1134750" y="2826762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2" name="Google Shape;172;p1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73" name="Google Shape;173;p19"/>
          <p:cNvSpPr txBox="1"/>
          <p:nvPr>
            <p:ph idx="1" type="subTitle"/>
          </p:nvPr>
        </p:nvSpPr>
        <p:spPr>
          <a:xfrm flipH="1">
            <a:off x="-172350" y="1348072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4" name="Google Shape;174;p19"/>
          <p:cNvSpPr txBox="1"/>
          <p:nvPr>
            <p:ph idx="2" type="subTitle"/>
          </p:nvPr>
        </p:nvSpPr>
        <p:spPr>
          <a:xfrm flipH="1">
            <a:off x="-172350" y="28291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3" type="subTitle"/>
          </p:nvPr>
        </p:nvSpPr>
        <p:spPr>
          <a:xfrm flipH="1">
            <a:off x="-172350" y="43154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4" type="body"/>
          </p:nvPr>
        </p:nvSpPr>
        <p:spPr>
          <a:xfrm>
            <a:off x="1134750" y="1348075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7" name="Google Shape;177;p19"/>
          <p:cNvSpPr txBox="1"/>
          <p:nvPr>
            <p:ph idx="5" type="body"/>
          </p:nvPr>
        </p:nvSpPr>
        <p:spPr>
          <a:xfrm>
            <a:off x="1134750" y="2831788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8" name="Google Shape;178;p19"/>
          <p:cNvSpPr txBox="1"/>
          <p:nvPr>
            <p:ph idx="6" type="body"/>
          </p:nvPr>
        </p:nvSpPr>
        <p:spPr>
          <a:xfrm>
            <a:off x="1134750" y="4310313"/>
            <a:ext cx="54342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9" name="Google Shape;179;p19"/>
          <p:cNvSpPr/>
          <p:nvPr>
            <p:ph idx="7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">
  <p:cSld name="CUSTOM_15">
    <p:bg>
      <p:bgPr>
        <a:solidFill>
          <a:schemeClr val="dk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>
            <p:ph idx="2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0"/>
          <p:cNvSpPr/>
          <p:nvPr>
            <p:ph idx="3" type="pic"/>
          </p:nvPr>
        </p:nvSpPr>
        <p:spPr>
          <a:xfrm>
            <a:off x="274950" y="323522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0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 with Names">
  <p:cSld name="CUSTOM_15_1"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>
            <p:ph idx="2" type="pic"/>
          </p:nvPr>
        </p:nvSpPr>
        <p:spPr>
          <a:xfrm>
            <a:off x="274950" y="3235225"/>
            <a:ext cx="4191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1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4681900" y="3235222"/>
            <a:ext cx="4191900" cy="1623300"/>
          </a:xfrm>
          <a:prstGeom prst="roundRect">
            <a:avLst>
              <a:gd fmla="val 1692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89" name="Google Shape;189;p21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681900" y="3235225"/>
            <a:ext cx="4191900" cy="16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ella Respira"/>
              <a:buNone/>
              <a:defRPr sz="14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/>
          <p:nvPr>
            <p:ph idx="3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solidFill>
          <a:schemeClr val="accent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">
  <p:cSld name="CUSTOM_17"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274950" y="3275914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96" name="Google Shape;196;p23"/>
          <p:cNvSpPr txBox="1"/>
          <p:nvPr>
            <p:ph type="title"/>
          </p:nvPr>
        </p:nvSpPr>
        <p:spPr>
          <a:xfrm>
            <a:off x="274725" y="1531200"/>
            <a:ext cx="85989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97" name="Google Shape;197;p23"/>
          <p:cNvSpPr txBox="1"/>
          <p:nvPr>
            <p:ph idx="1" type="subTitle"/>
          </p:nvPr>
        </p:nvSpPr>
        <p:spPr>
          <a:xfrm>
            <a:off x="279625" y="3283263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7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8">
    <p:bg>
      <p:bgPr>
        <a:solidFill>
          <a:schemeClr val="lt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04" name="Google Shape;204;p2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05" name="Google Shape;205;p25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0">
    <p:bg>
      <p:bgPr>
        <a:solidFill>
          <a:schemeClr val="dk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1">
    <p:bg>
      <p:bgPr>
        <a:solidFill>
          <a:schemeClr val="lt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/>
          <p:nvPr/>
        </p:nvSpPr>
        <p:spPr>
          <a:xfrm>
            <a:off x="274950" y="1580175"/>
            <a:ext cx="6326700" cy="32784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545275" y="1703050"/>
            <a:ext cx="5795400" cy="29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2" name="Google Shape;212;p27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13" name="Google Shape;213;p27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14" name="Google Shape;214;p27"/>
          <p:cNvSpPr/>
          <p:nvPr/>
        </p:nvSpPr>
        <p:spPr>
          <a:xfrm>
            <a:off x="274950" y="1102500"/>
            <a:ext cx="63267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15" name="Google Shape;215;p27"/>
          <p:cNvSpPr txBox="1"/>
          <p:nvPr>
            <p:ph idx="2" type="subTitle"/>
          </p:nvPr>
        </p:nvSpPr>
        <p:spPr>
          <a:xfrm>
            <a:off x="327025" y="1109850"/>
            <a:ext cx="6231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22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CUSTOM_23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273650" y="18291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21" name="Google Shape;221;p29"/>
          <p:cNvSpPr txBox="1"/>
          <p:nvPr>
            <p:ph type="title"/>
          </p:nvPr>
        </p:nvSpPr>
        <p:spPr>
          <a:xfrm>
            <a:off x="271350" y="18715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22" name="Google Shape;222;p29"/>
          <p:cNvSpPr/>
          <p:nvPr/>
        </p:nvSpPr>
        <p:spPr>
          <a:xfrm>
            <a:off x="273756" y="2887125"/>
            <a:ext cx="8598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23" name="Google Shape;223;p29"/>
          <p:cNvSpPr txBox="1"/>
          <p:nvPr>
            <p:ph idx="1" type="subTitle"/>
          </p:nvPr>
        </p:nvSpPr>
        <p:spPr>
          <a:xfrm>
            <a:off x="273650" y="2917550"/>
            <a:ext cx="8598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4">
    <p:bg>
      <p:bgPr>
        <a:solidFill>
          <a:schemeClr val="dk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5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28" name="Google Shape;228;p31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9" name="Google Shape;229;p31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6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272650" y="134812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3" name="Google Shape;233;p32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34" name="Google Shape;234;p32"/>
          <p:cNvSpPr txBox="1"/>
          <p:nvPr>
            <p:ph idx="1" type="subTitle"/>
          </p:nvPr>
        </p:nvSpPr>
        <p:spPr>
          <a:xfrm>
            <a:off x="272650" y="137515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5" name="Google Shape;235;p32"/>
          <p:cNvSpPr/>
          <p:nvPr/>
        </p:nvSpPr>
        <p:spPr>
          <a:xfrm>
            <a:off x="272650" y="196496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6" name="Google Shape;236;p32"/>
          <p:cNvSpPr txBox="1"/>
          <p:nvPr>
            <p:ph idx="2" type="subTitle"/>
          </p:nvPr>
        </p:nvSpPr>
        <p:spPr>
          <a:xfrm>
            <a:off x="272650" y="199199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7" name="Google Shape;237;p32"/>
          <p:cNvSpPr/>
          <p:nvPr/>
        </p:nvSpPr>
        <p:spPr>
          <a:xfrm>
            <a:off x="272650" y="258180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8" name="Google Shape;238;p32"/>
          <p:cNvSpPr txBox="1"/>
          <p:nvPr>
            <p:ph idx="3" type="subTitle"/>
          </p:nvPr>
        </p:nvSpPr>
        <p:spPr>
          <a:xfrm>
            <a:off x="272650" y="260883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9" name="Google Shape;239;p32"/>
          <p:cNvSpPr/>
          <p:nvPr/>
        </p:nvSpPr>
        <p:spPr>
          <a:xfrm>
            <a:off x="272650" y="319864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0" name="Google Shape;240;p32"/>
          <p:cNvSpPr txBox="1"/>
          <p:nvPr>
            <p:ph idx="4" type="subTitle"/>
          </p:nvPr>
        </p:nvSpPr>
        <p:spPr>
          <a:xfrm>
            <a:off x="272650" y="322567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41" name="Google Shape;241;p32"/>
          <p:cNvSpPr/>
          <p:nvPr/>
        </p:nvSpPr>
        <p:spPr>
          <a:xfrm>
            <a:off x="272650" y="381548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2" name="Google Shape;242;p32"/>
          <p:cNvSpPr txBox="1"/>
          <p:nvPr>
            <p:ph idx="5" type="subTitle"/>
          </p:nvPr>
        </p:nvSpPr>
        <p:spPr>
          <a:xfrm>
            <a:off x="272650" y="384251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43" name="Google Shape;243;p32"/>
          <p:cNvSpPr/>
          <p:nvPr/>
        </p:nvSpPr>
        <p:spPr>
          <a:xfrm>
            <a:off x="272650" y="443232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4" name="Google Shape;244;p32"/>
          <p:cNvSpPr txBox="1"/>
          <p:nvPr>
            <p:ph idx="6" type="subTitle"/>
          </p:nvPr>
        </p:nvSpPr>
        <p:spPr>
          <a:xfrm>
            <a:off x="272650" y="445935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27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48" name="Google Shape;248;p33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33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50" name="Google Shape;250;p33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8">
    <p:bg>
      <p:bgPr>
        <a:solidFill>
          <a:schemeClr val="lt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/>
          <p:nvPr/>
        </p:nvSpPr>
        <p:spPr>
          <a:xfrm>
            <a:off x="46726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3" name="Google Shape;253;p34"/>
          <p:cNvSpPr txBox="1"/>
          <p:nvPr>
            <p:ph idx="1" type="body"/>
          </p:nvPr>
        </p:nvSpPr>
        <p:spPr>
          <a:xfrm>
            <a:off x="49010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4" name="Google Shape;254;p34"/>
          <p:cNvSpPr/>
          <p:nvPr/>
        </p:nvSpPr>
        <p:spPr>
          <a:xfrm>
            <a:off x="2749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5" name="Google Shape;255;p34"/>
          <p:cNvSpPr txBox="1"/>
          <p:nvPr>
            <p:ph idx="2" type="body"/>
          </p:nvPr>
        </p:nvSpPr>
        <p:spPr>
          <a:xfrm>
            <a:off x="5033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6" name="Google Shape;256;p3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57" name="Google Shape;257;p34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58" name="Google Shape;258;p34"/>
          <p:cNvSpPr/>
          <p:nvPr/>
        </p:nvSpPr>
        <p:spPr>
          <a:xfrm>
            <a:off x="275100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9" name="Google Shape;259;p34"/>
          <p:cNvSpPr txBox="1"/>
          <p:nvPr>
            <p:ph idx="3" type="subTitle"/>
          </p:nvPr>
        </p:nvSpPr>
        <p:spPr>
          <a:xfrm>
            <a:off x="274950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60" name="Google Shape;260;p34"/>
          <p:cNvSpPr/>
          <p:nvPr/>
        </p:nvSpPr>
        <p:spPr>
          <a:xfrm>
            <a:off x="4672725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1" name="Google Shape;261;p34"/>
          <p:cNvSpPr txBox="1"/>
          <p:nvPr>
            <p:ph idx="4" type="subTitle"/>
          </p:nvPr>
        </p:nvSpPr>
        <p:spPr>
          <a:xfrm>
            <a:off x="4672575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9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/>
          <p:nvPr/>
        </p:nvSpPr>
        <p:spPr>
          <a:xfrm>
            <a:off x="2749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4" name="Google Shape;264;p35"/>
          <p:cNvSpPr txBox="1"/>
          <p:nvPr>
            <p:ph idx="1" type="body"/>
          </p:nvPr>
        </p:nvSpPr>
        <p:spPr>
          <a:xfrm>
            <a:off x="3920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65" name="Google Shape;265;p3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66" name="Google Shape;266;p3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67" name="Google Shape;267;p35"/>
          <p:cNvSpPr/>
          <p:nvPr/>
        </p:nvSpPr>
        <p:spPr>
          <a:xfrm>
            <a:off x="2750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8" name="Google Shape;268;p35"/>
          <p:cNvSpPr txBox="1"/>
          <p:nvPr>
            <p:ph idx="2" type="subTitle"/>
          </p:nvPr>
        </p:nvSpPr>
        <p:spPr>
          <a:xfrm>
            <a:off x="2749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69" name="Google Shape;269;p35"/>
          <p:cNvSpPr/>
          <p:nvPr/>
        </p:nvSpPr>
        <p:spPr>
          <a:xfrm>
            <a:off x="321100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0" name="Google Shape;270;p35"/>
          <p:cNvSpPr txBox="1"/>
          <p:nvPr>
            <p:ph idx="3" type="body"/>
          </p:nvPr>
        </p:nvSpPr>
        <p:spPr>
          <a:xfrm>
            <a:off x="332814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1" name="Google Shape;271;p35"/>
          <p:cNvSpPr/>
          <p:nvPr/>
        </p:nvSpPr>
        <p:spPr>
          <a:xfrm>
            <a:off x="321109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2" name="Google Shape;272;p35"/>
          <p:cNvSpPr txBox="1"/>
          <p:nvPr>
            <p:ph idx="4" type="subTitle"/>
          </p:nvPr>
        </p:nvSpPr>
        <p:spPr>
          <a:xfrm>
            <a:off x="321100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73" name="Google Shape;273;p35"/>
          <p:cNvSpPr/>
          <p:nvPr/>
        </p:nvSpPr>
        <p:spPr>
          <a:xfrm>
            <a:off x="61471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4" name="Google Shape;274;p35"/>
          <p:cNvSpPr txBox="1"/>
          <p:nvPr>
            <p:ph idx="5" type="body"/>
          </p:nvPr>
        </p:nvSpPr>
        <p:spPr>
          <a:xfrm>
            <a:off x="62642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5" name="Google Shape;275;p35"/>
          <p:cNvSpPr/>
          <p:nvPr/>
        </p:nvSpPr>
        <p:spPr>
          <a:xfrm>
            <a:off x="61472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6" name="Google Shape;276;p35"/>
          <p:cNvSpPr txBox="1"/>
          <p:nvPr>
            <p:ph idx="6" type="subTitle"/>
          </p:nvPr>
        </p:nvSpPr>
        <p:spPr>
          <a:xfrm>
            <a:off x="61471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0"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/>
          <p:nvPr/>
        </p:nvSpPr>
        <p:spPr>
          <a:xfrm>
            <a:off x="274950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9" name="Google Shape;279;p36"/>
          <p:cNvSpPr txBox="1"/>
          <p:nvPr>
            <p:ph idx="1" type="body"/>
          </p:nvPr>
        </p:nvSpPr>
        <p:spPr>
          <a:xfrm>
            <a:off x="363575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0" name="Google Shape;280;p3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81" name="Google Shape;281;p3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82" name="Google Shape;282;p36"/>
          <p:cNvSpPr/>
          <p:nvPr/>
        </p:nvSpPr>
        <p:spPr>
          <a:xfrm>
            <a:off x="275024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3" name="Google Shape;283;p36"/>
          <p:cNvSpPr txBox="1"/>
          <p:nvPr>
            <p:ph idx="2" type="subTitle"/>
          </p:nvPr>
        </p:nvSpPr>
        <p:spPr>
          <a:xfrm>
            <a:off x="274950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84" name="Google Shape;284;p36"/>
          <p:cNvSpPr/>
          <p:nvPr/>
        </p:nvSpPr>
        <p:spPr>
          <a:xfrm>
            <a:off x="2454747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5" name="Google Shape;285;p36"/>
          <p:cNvSpPr txBox="1"/>
          <p:nvPr>
            <p:ph idx="3" type="body"/>
          </p:nvPr>
        </p:nvSpPr>
        <p:spPr>
          <a:xfrm>
            <a:off x="2543370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6" name="Google Shape;286;p36"/>
          <p:cNvSpPr/>
          <p:nvPr/>
        </p:nvSpPr>
        <p:spPr>
          <a:xfrm>
            <a:off x="245482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7" name="Google Shape;287;p36"/>
          <p:cNvSpPr txBox="1"/>
          <p:nvPr>
            <p:ph idx="4" type="subTitle"/>
          </p:nvPr>
        </p:nvSpPr>
        <p:spPr>
          <a:xfrm>
            <a:off x="2454747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88" name="Google Shape;288;p36"/>
          <p:cNvSpPr/>
          <p:nvPr/>
        </p:nvSpPr>
        <p:spPr>
          <a:xfrm>
            <a:off x="4634609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9" name="Google Shape;289;p36"/>
          <p:cNvSpPr txBox="1"/>
          <p:nvPr>
            <p:ph idx="5" type="body"/>
          </p:nvPr>
        </p:nvSpPr>
        <p:spPr>
          <a:xfrm>
            <a:off x="4723231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0" name="Google Shape;290;p36"/>
          <p:cNvSpPr/>
          <p:nvPr/>
        </p:nvSpPr>
        <p:spPr>
          <a:xfrm>
            <a:off x="4634683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1" name="Google Shape;291;p36"/>
          <p:cNvSpPr txBox="1"/>
          <p:nvPr>
            <p:ph idx="6" type="subTitle"/>
          </p:nvPr>
        </p:nvSpPr>
        <p:spPr>
          <a:xfrm>
            <a:off x="4634609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92" name="Google Shape;292;p36"/>
          <p:cNvSpPr/>
          <p:nvPr/>
        </p:nvSpPr>
        <p:spPr>
          <a:xfrm>
            <a:off x="6814406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3" name="Google Shape;293;p36"/>
          <p:cNvSpPr txBox="1"/>
          <p:nvPr>
            <p:ph idx="7" type="body"/>
          </p:nvPr>
        </p:nvSpPr>
        <p:spPr>
          <a:xfrm>
            <a:off x="6903026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4" name="Google Shape;294;p36"/>
          <p:cNvSpPr/>
          <p:nvPr/>
        </p:nvSpPr>
        <p:spPr>
          <a:xfrm>
            <a:off x="681448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5" name="Google Shape;295;p36"/>
          <p:cNvSpPr txBox="1"/>
          <p:nvPr>
            <p:ph idx="8" type="subTitle"/>
          </p:nvPr>
        </p:nvSpPr>
        <p:spPr>
          <a:xfrm>
            <a:off x="6814406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Image">
  <p:cSld name="CUSTOM_3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/>
          <p:nvPr>
            <p:ph idx="2" type="pic"/>
          </p:nvPr>
        </p:nvSpPr>
        <p:spPr>
          <a:xfrm>
            <a:off x="274950" y="1352225"/>
            <a:ext cx="85989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3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99" name="Google Shape;299;p3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32">
    <p:bg>
      <p:bgPr>
        <a:solidFill>
          <a:schemeClr val="dk2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46726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2" name="Google Shape;302;p38"/>
          <p:cNvSpPr/>
          <p:nvPr/>
        </p:nvSpPr>
        <p:spPr>
          <a:xfrm>
            <a:off x="2749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92400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04" name="Google Shape;304;p3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05" name="Google Shape;305;p3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06" name="Google Shape;306;p38"/>
          <p:cNvSpPr/>
          <p:nvPr/>
        </p:nvSpPr>
        <p:spPr>
          <a:xfrm>
            <a:off x="275100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7" name="Google Shape;307;p38"/>
          <p:cNvSpPr txBox="1"/>
          <p:nvPr>
            <p:ph idx="2" type="subTitle"/>
          </p:nvPr>
        </p:nvSpPr>
        <p:spPr>
          <a:xfrm>
            <a:off x="274950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08" name="Google Shape;308;p38"/>
          <p:cNvSpPr/>
          <p:nvPr/>
        </p:nvSpPr>
        <p:spPr>
          <a:xfrm>
            <a:off x="4672725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9" name="Google Shape;309;p38"/>
          <p:cNvSpPr txBox="1"/>
          <p:nvPr>
            <p:ph idx="3" type="subTitle"/>
          </p:nvPr>
        </p:nvSpPr>
        <p:spPr>
          <a:xfrm>
            <a:off x="4672575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10" name="Google Shape;310;p38"/>
          <p:cNvSpPr/>
          <p:nvPr>
            <p:ph idx="4" type="pic"/>
          </p:nvPr>
        </p:nvSpPr>
        <p:spPr>
          <a:xfrm>
            <a:off x="274950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38"/>
          <p:cNvSpPr txBox="1"/>
          <p:nvPr>
            <p:ph idx="5" type="body"/>
          </p:nvPr>
        </p:nvSpPr>
        <p:spPr>
          <a:xfrm>
            <a:off x="4779375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2" name="Google Shape;312;p38"/>
          <p:cNvSpPr/>
          <p:nvPr>
            <p:ph idx="6" type="pic"/>
          </p:nvPr>
        </p:nvSpPr>
        <p:spPr>
          <a:xfrm>
            <a:off x="4672575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33">
    <p:bg>
      <p:bgPr>
        <a:solidFill>
          <a:schemeClr val="dk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/>
          <p:nvPr/>
        </p:nvSpPr>
        <p:spPr>
          <a:xfrm>
            <a:off x="318539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15" name="Google Shape;315;p39"/>
          <p:cNvSpPr/>
          <p:nvPr/>
        </p:nvSpPr>
        <p:spPr>
          <a:xfrm>
            <a:off x="274950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16" name="Google Shape;316;p39"/>
          <p:cNvSpPr txBox="1"/>
          <p:nvPr>
            <p:ph idx="1" type="body"/>
          </p:nvPr>
        </p:nvSpPr>
        <p:spPr>
          <a:xfrm>
            <a:off x="352680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7" name="Google Shape;317;p3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18" name="Google Shape;318;p3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19" name="Google Shape;319;p39"/>
          <p:cNvSpPr/>
          <p:nvPr/>
        </p:nvSpPr>
        <p:spPr>
          <a:xfrm>
            <a:off x="2750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0" name="Google Shape;320;p39"/>
          <p:cNvSpPr txBox="1"/>
          <p:nvPr>
            <p:ph idx="2" type="subTitle"/>
          </p:nvPr>
        </p:nvSpPr>
        <p:spPr>
          <a:xfrm>
            <a:off x="2749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1" name="Google Shape;321;p39"/>
          <p:cNvSpPr/>
          <p:nvPr/>
        </p:nvSpPr>
        <p:spPr>
          <a:xfrm>
            <a:off x="31854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2" name="Google Shape;322;p39"/>
          <p:cNvSpPr txBox="1"/>
          <p:nvPr>
            <p:ph idx="3" type="subTitle"/>
          </p:nvPr>
        </p:nvSpPr>
        <p:spPr>
          <a:xfrm>
            <a:off x="31853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3" name="Google Shape;323;p39"/>
          <p:cNvSpPr/>
          <p:nvPr>
            <p:ph idx="4" type="pic"/>
          </p:nvPr>
        </p:nvSpPr>
        <p:spPr>
          <a:xfrm>
            <a:off x="2749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9"/>
          <p:cNvSpPr txBox="1"/>
          <p:nvPr>
            <p:ph idx="5" type="body"/>
          </p:nvPr>
        </p:nvSpPr>
        <p:spPr>
          <a:xfrm>
            <a:off x="325603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25" name="Google Shape;325;p39"/>
          <p:cNvSpPr/>
          <p:nvPr>
            <p:ph idx="6" type="pic"/>
          </p:nvPr>
        </p:nvSpPr>
        <p:spPr>
          <a:xfrm>
            <a:off x="31853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39"/>
          <p:cNvSpPr/>
          <p:nvPr/>
        </p:nvSpPr>
        <p:spPr>
          <a:xfrm>
            <a:off x="609580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7" name="Google Shape;327;p39"/>
          <p:cNvSpPr/>
          <p:nvPr/>
        </p:nvSpPr>
        <p:spPr>
          <a:xfrm>
            <a:off x="609585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8" name="Google Shape;328;p39"/>
          <p:cNvSpPr txBox="1"/>
          <p:nvPr>
            <p:ph idx="7" type="subTitle"/>
          </p:nvPr>
        </p:nvSpPr>
        <p:spPr>
          <a:xfrm>
            <a:off x="609576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9" name="Google Shape;329;p39"/>
          <p:cNvSpPr txBox="1"/>
          <p:nvPr>
            <p:ph idx="8" type="body"/>
          </p:nvPr>
        </p:nvSpPr>
        <p:spPr>
          <a:xfrm>
            <a:off x="616644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0" name="Google Shape;330;p39"/>
          <p:cNvSpPr/>
          <p:nvPr>
            <p:ph idx="9" type="pic"/>
          </p:nvPr>
        </p:nvSpPr>
        <p:spPr>
          <a:xfrm>
            <a:off x="609576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34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/>
          <p:nvPr>
            <p:ph idx="2" type="pic"/>
          </p:nvPr>
        </p:nvSpPr>
        <p:spPr>
          <a:xfrm>
            <a:off x="274950" y="273750"/>
            <a:ext cx="8598900" cy="45960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35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/>
          <p:nvPr>
            <p:ph idx="2" type="pic"/>
          </p:nvPr>
        </p:nvSpPr>
        <p:spPr>
          <a:xfrm>
            <a:off x="7186900" y="1350138"/>
            <a:ext cx="16857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41"/>
          <p:cNvSpPr/>
          <p:nvPr/>
        </p:nvSpPr>
        <p:spPr>
          <a:xfrm>
            <a:off x="273650" y="282688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6" name="Google Shape;336;p41"/>
          <p:cNvSpPr txBox="1"/>
          <p:nvPr>
            <p:ph type="title"/>
          </p:nvPr>
        </p:nvSpPr>
        <p:spPr>
          <a:xfrm>
            <a:off x="271350" y="325027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37" name="Google Shape;337;p41"/>
          <p:cNvSpPr/>
          <p:nvPr>
            <p:ph idx="3" type="pic"/>
          </p:nvPr>
        </p:nvSpPr>
        <p:spPr>
          <a:xfrm>
            <a:off x="27365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41"/>
          <p:cNvSpPr/>
          <p:nvPr>
            <p:ph idx="4" type="pic"/>
          </p:nvPr>
        </p:nvSpPr>
        <p:spPr>
          <a:xfrm>
            <a:off x="1998688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41"/>
          <p:cNvSpPr/>
          <p:nvPr>
            <p:ph idx="5" type="pic"/>
          </p:nvPr>
        </p:nvSpPr>
        <p:spPr>
          <a:xfrm>
            <a:off x="3723713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41"/>
          <p:cNvSpPr/>
          <p:nvPr>
            <p:ph idx="6" type="pic"/>
          </p:nvPr>
        </p:nvSpPr>
        <p:spPr>
          <a:xfrm>
            <a:off x="545530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41"/>
          <p:cNvSpPr/>
          <p:nvPr>
            <p:ph idx="7" type="pic"/>
          </p:nvPr>
        </p:nvSpPr>
        <p:spPr>
          <a:xfrm>
            <a:off x="27365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41"/>
          <p:cNvSpPr/>
          <p:nvPr>
            <p:ph idx="8" type="pic"/>
          </p:nvPr>
        </p:nvSpPr>
        <p:spPr>
          <a:xfrm>
            <a:off x="1998688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41"/>
          <p:cNvSpPr/>
          <p:nvPr>
            <p:ph idx="9" type="pic"/>
          </p:nvPr>
        </p:nvSpPr>
        <p:spPr>
          <a:xfrm>
            <a:off x="3723713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41"/>
          <p:cNvSpPr/>
          <p:nvPr>
            <p:ph idx="13" type="pic"/>
          </p:nvPr>
        </p:nvSpPr>
        <p:spPr>
          <a:xfrm>
            <a:off x="545530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3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8" name="Google Shape;348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9" name="Google Shape;34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2" name="Google Shape;35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5" name="Google Shape;35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6" name="Google Shape;35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0" name="Google Shape;360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7" name="Google Shape;367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8" name="Google Shape;36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1" name="Google Shape;37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5" name="Google Shape;375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6" name="Google Shape;376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77" name="Google Shape;37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0" name="Google Shape;380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1" name="Google Shape;38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5" name="Google Shape;385;p5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0" name="Google Shape;390;p5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1" name="Google Shape;391;p5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2" name="Google Shape;392;p5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3" name="Google Shape;393;p5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5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7" name="Google Shape;397;p5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8" name="Google Shape;398;p54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9" name="Google Shape;399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0" name="Google Shape;400;p54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54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54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5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6" name="Google Shape;406;p5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7" name="Google Shape;407;p5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8" name="Google Shape;408;p5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9" name="Google Shape;409;p5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5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6" name="Google Shape;41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5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5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5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5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4" name="Google Shape;42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5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6" name="Google Shape;426;p5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9" name="Google Shape;429;p5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2" name="Google Shape;432;p5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5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4" name="Google Shape;43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5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7" name="Google Shape;437;p5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8" name="Google Shape;438;p5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4" name="Google Shape;444;p6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6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6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6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6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6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6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1" name="Google Shape;451;p6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6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6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0" name="Google Shape;460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1" name="Google Shape;461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4" name="Google Shape;46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467" name="Google Shape;467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471" name="Google Shape;471;p6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2" name="Google Shape;472;p6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3" name="Google Shape;473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476" name="Google Shape;476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9" name="Google Shape;479;p6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3" name="Google Shape;483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6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7" name="Google Shape;487;p6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8" name="Google Shape;488;p6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9" name="Google Shape;48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492" name="Google Shape;49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5" name="Google Shape;495;p7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6" name="Google Shape;496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501" name="Google Shape;501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2" name="Google Shape;502;p7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7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7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7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7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7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510" name="Google Shape;510;p7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7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5" name="Google Shape;515;p7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6" name="Google Shape;516;p7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7" name="Google Shape;517;p7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8" name="Google Shape;518;p7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9" name="Google Shape;519;p7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7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3" name="Google Shape;523;p7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4" name="Google Shape;524;p7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5" name="Google Shape;525;p7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6" name="Google Shape;526;p7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7" name="Google Shape;527;p7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8" name="Google Shape;528;p7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1" name="Google Shape;531;p7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32" name="Google Shape;532;p7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33" name="Google Shape;533;p7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34" name="Google Shape;534;p7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35" name="Google Shape;535;p7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6" name="Google Shape;536;p7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7" name="Google Shape;537;p7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8" name="Google Shape;538;p7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9" name="Google Shape;539;p7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542" name="Google Shape;542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7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6" name="Google Shape;546;p7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7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7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9" name="Google Shape;549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551" name="Google Shape;551;p7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2" name="Google Shape;552;p7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5" name="Google Shape;555;p8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8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8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8" name="Google Shape;558;p8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9" name="Google Shape;559;p8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0" name="Google Shape;560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1" name="Google Shape;561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562" name="Google Shape;562;p8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3" name="Google Shape;563;p8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4" name="Google Shape;564;p8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8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p8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8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8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8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74" name="Google Shape;574;p8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8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8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577" name="Google Shape;577;p8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8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8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83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2" name="Google Shape;582;p83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3" name="Google Shape;583;p83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4" name="Google Shape;584;p83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585" name="Google Shape;585;p83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4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8" name="Google Shape;588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9" name="Google Shape;589;p84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0" name="Google Shape;590;p84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1" name="Google Shape;591;p84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2" name="Google Shape;592;p84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3" name="Google Shape;593;p8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4" name="Google Shape;594;p84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7" name="Google Shape;597;p85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98" name="Google Shape;598;p85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9" name="Google Shape;599;p85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2" name="Google Shape;602;p86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603" name="Google Shape;603;p86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4" name="Google Shape;604;p86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7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07" name="Google Shape;607;p87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8" name="Google Shape;608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9" name="Google Shape;609;p87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610" name="Google Shape;610;p87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1" name="Google Shape;611;p87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8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4" name="Google Shape;614;p88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5" name="Google Shape;615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6" name="Google Shape;616;p88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617" name="Google Shape;617;p88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8" name="Google Shape;618;p88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9" name="Google Shape;619;p88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9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2" name="Google Shape;622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8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4" name="Google Shape;624;p8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5" name="Google Shape;625;p89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26" name="Google Shape;626;p89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90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30" name="Google Shape;630;p90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31" name="Google Shape;631;p90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32" name="Google Shape;632;p90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33" name="Google Shape;633;p90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34" name="Google Shape;634;p90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35" name="Google Shape;635;p90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36" name="Google Shape;636;p90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37" name="Google Shape;637;p90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38" name="Google Shape;638;p90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39" name="Google Shape;639;p90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40" name="Google Shape;640;p90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41" name="Google Shape;641;p90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42" name="Google Shape;642;p90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43" name="Google Shape;643;p90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44" name="Google Shape;644;p90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45" name="Google Shape;645;p90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46" name="Google Shape;646;p90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47" name="Google Shape;647;p90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48" name="Google Shape;648;p90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49" name="Google Shape;649;p90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50" name="Google Shape;650;p90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51" name="Google Shape;651;p90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52" name="Google Shape;652;p90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53" name="Google Shape;653;p90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54" name="Google Shape;654;p90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55" name="Google Shape;655;p90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656" name="Google Shape;656;p90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57" name="Google Shape;657;p90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0" name="Google Shape;660;p91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1" name="Google Shape;661;p91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theme" Target="../theme/theme1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89.xml"/><Relationship Id="rId20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Della Respira"/>
              <a:buNone/>
              <a:defRPr b="1" sz="42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010150" y="1510025"/>
            <a:ext cx="55227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456" name="Google Shape;456;p61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57" name="Google Shape;457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youtube.com/watch?v=PmwMj7L-BLk" TargetMode="External"/><Relationship Id="rId4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www.youtube.com/watch?v=ITB6zKV3dd4" TargetMode="External"/><Relationship Id="rId4" Type="http://schemas.openxmlformats.org/officeDocument/2006/relationships/image" Target="../media/image2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2"/>
          <p:cNvSpPr txBox="1"/>
          <p:nvPr>
            <p:ph idx="4" type="body"/>
          </p:nvPr>
        </p:nvSpPr>
        <p:spPr>
          <a:xfrm>
            <a:off x="7703425" y="82950"/>
            <a:ext cx="1317600" cy="9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12/10/2024</a:t>
            </a:r>
            <a:endParaRPr sz="1700"/>
          </a:p>
          <a:p>
            <a:pPr indent="0" lvl="0" marL="0" rtl="0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STAT410</a:t>
            </a:r>
            <a:endParaRPr sz="1700"/>
          </a:p>
        </p:txBody>
      </p:sp>
      <p:sp>
        <p:nvSpPr>
          <p:cNvPr id="667" name="Google Shape;667;p92"/>
          <p:cNvSpPr txBox="1"/>
          <p:nvPr>
            <p:ph type="ctrTitle"/>
          </p:nvPr>
        </p:nvSpPr>
        <p:spPr>
          <a:xfrm>
            <a:off x="196950" y="223825"/>
            <a:ext cx="81555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Indoor Positioning System</a:t>
            </a:r>
            <a:endParaRPr/>
          </a:p>
        </p:txBody>
      </p:sp>
      <p:sp>
        <p:nvSpPr>
          <p:cNvPr id="668" name="Google Shape;668;p92"/>
          <p:cNvSpPr txBox="1"/>
          <p:nvPr>
            <p:ph idx="2" type="subTitle"/>
          </p:nvPr>
        </p:nvSpPr>
        <p:spPr>
          <a:xfrm>
            <a:off x="196950" y="3634975"/>
            <a:ext cx="4294200" cy="5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/>
              <a:t>Qwyn Petersen &amp; Truong Lam</a:t>
            </a:r>
            <a:endParaRPr sz="20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/>
              <a:t>DATA-lectable</a:t>
            </a:r>
            <a:endParaRPr sz="2050"/>
          </a:p>
        </p:txBody>
      </p:sp>
      <p:pic>
        <p:nvPicPr>
          <p:cNvPr id="669" name="Google Shape;66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6825" y="2465100"/>
            <a:ext cx="4294201" cy="258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9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Indoor Positioning System</a:t>
            </a:r>
            <a:endParaRPr/>
          </a:p>
        </p:txBody>
      </p:sp>
      <p:sp>
        <p:nvSpPr>
          <p:cNvPr id="676" name="Google Shape;676;p9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STAT410</a:t>
            </a:r>
            <a:endParaRPr/>
          </a:p>
        </p:txBody>
      </p:sp>
      <p:sp>
        <p:nvSpPr>
          <p:cNvPr id="677" name="Google Shape;677;p93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78" name="Google Shape;678;p93"/>
          <p:cNvSpPr txBox="1"/>
          <p:nvPr/>
        </p:nvSpPr>
        <p:spPr>
          <a:xfrm>
            <a:off x="516423" y="1584300"/>
            <a:ext cx="8430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Data Collection and Preprocessing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79" name="Google Shape;679;p93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Algorithms and Methods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80" name="Google Shape;680;p93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 and Visualizations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81" name="Google Shape;681;p93"/>
          <p:cNvSpPr txBox="1"/>
          <p:nvPr/>
        </p:nvSpPr>
        <p:spPr>
          <a:xfrm>
            <a:off x="516423" y="4102800"/>
            <a:ext cx="8345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Recommendations and Conclusion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82" name="Google Shape;682;p93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83" name="Google Shape;683;p93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84" name="Google Shape;684;p93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85" name="Google Shape;685;p93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86" name="Google Shape;686;p93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2" name="Google Shape;692;p9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Indoor Positioning System</a:t>
            </a:r>
            <a:endParaRPr/>
          </a:p>
        </p:txBody>
      </p:sp>
      <p:sp>
        <p:nvSpPr>
          <p:cNvPr id="693" name="Google Shape;693;p94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STAT410</a:t>
            </a:r>
            <a:endParaRPr/>
          </a:p>
        </p:txBody>
      </p:sp>
      <p:sp>
        <p:nvSpPr>
          <p:cNvPr id="694" name="Google Shape;694;p94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95" name="Google Shape;695;p94"/>
          <p:cNvSpPr txBox="1"/>
          <p:nvPr/>
        </p:nvSpPr>
        <p:spPr>
          <a:xfrm>
            <a:off x="516423" y="1584300"/>
            <a:ext cx="8430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Data Collection and Preprocessing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96" name="Google Shape;696;p94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highlight>
                  <a:schemeClr val="lt1"/>
                </a:highlight>
                <a:latin typeface="Merriweather"/>
                <a:ea typeface="Merriweather"/>
                <a:cs typeface="Merriweather"/>
                <a:sym typeface="Merriweather"/>
              </a:rPr>
              <a:t>Algorithms and Methods</a:t>
            </a:r>
            <a:endParaRPr b="1" sz="3650">
              <a:solidFill>
                <a:schemeClr val="lt2"/>
              </a:solidFill>
              <a:highlight>
                <a:schemeClr val="lt1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97" name="Google Shape;697;p94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 and Visualizations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98" name="Google Shape;698;p94"/>
          <p:cNvSpPr txBox="1"/>
          <p:nvPr/>
        </p:nvSpPr>
        <p:spPr>
          <a:xfrm>
            <a:off x="516423" y="4102800"/>
            <a:ext cx="8289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Recommendations</a:t>
            </a: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 and Conclusion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99" name="Google Shape;699;p94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00" name="Google Shape;700;p94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01" name="Google Shape;701;p94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02" name="Google Shape;702;p94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03" name="Google Shape;703;p94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lang="en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Indoor Positioning System (IPS)</a:t>
            </a:r>
            <a:r>
              <a:rPr lang="en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is a technology used to track the real-time location of objects/people within indoor environments, where the GPS signals are weak/unavailable. 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IPS typically relies on technologies such as Wi-Fi/Bluetooth frequency signals to estimate positions with high accuracy. It is commonly used in: malls, airports, hospitals, and warehouses.</a:t>
            </a:r>
            <a:endParaRPr sz="2300"/>
          </a:p>
        </p:txBody>
      </p:sp>
      <p:sp>
        <p:nvSpPr>
          <p:cNvPr id="709" name="Google Shape;709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Indoor Positioning System?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IPS? Why not GPS?</a:t>
            </a:r>
            <a:endParaRPr/>
          </a:p>
        </p:txBody>
      </p:sp>
      <p:sp>
        <p:nvSpPr>
          <p:cNvPr id="715" name="Google Shape;715;p9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GPS can’t work indoor:</a:t>
            </a:r>
            <a:endParaRPr b="1" sz="13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GPS Needs Satellite Signals</a:t>
            </a:r>
            <a:r>
              <a:rPr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GPS works by receiving signals from satellites in space.</a:t>
            </a:r>
            <a:endParaRPr sz="13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These signals travel in straight lines and need a clear path to the GPS receiver (like your phone or a car's GPS).</a:t>
            </a:r>
            <a:endParaRPr sz="13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Indoor Barriers Block Signals</a:t>
            </a:r>
            <a:r>
              <a:rPr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Inside buildings, walls, ceilings, and furniture block or weaken the satellite signals.</a:t>
            </a:r>
            <a:endParaRPr sz="13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This makes it hard for the GPS to "see" the satellites and determine your exact location.</a:t>
            </a:r>
            <a:endParaRPr b="1" sz="13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9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How IPS Addresses These Challenges:</a:t>
            </a:r>
            <a:endParaRPr b="1" sz="13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Utilization of Local Access Points</a:t>
            </a:r>
            <a:r>
              <a:rPr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IPS leverages Wi-Fi signals, Bluetooth, or other local network infrastructure for accurate localization.</a:t>
            </a:r>
            <a:endParaRPr sz="13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Unlike GPS, it uses signal strength and trilateration techniques to calculate positions within a few meters.</a:t>
            </a:r>
            <a:endParaRPr sz="13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High Precision</a:t>
            </a:r>
            <a:r>
              <a:rPr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IPS systems like your project can achieve localization accuracy that is much finer than GPS, down to less than a meter.</a:t>
            </a:r>
            <a:endParaRPr sz="13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" sz="2800"/>
              <a:t>Environment:</a:t>
            </a:r>
            <a:r>
              <a:rPr lang="en" sz="2800"/>
              <a:t> A single-floor building with six Wifi access points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" sz="2800"/>
              <a:t>Data-driven approach:</a:t>
            </a:r>
            <a:r>
              <a:rPr lang="en" sz="2800"/>
              <a:t> Use signal </a:t>
            </a:r>
            <a:r>
              <a:rPr lang="en" sz="2800"/>
              <a:t>strengths</a:t>
            </a:r>
            <a:r>
              <a:rPr lang="en" sz="2800"/>
              <a:t> to model device locations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en" sz="2800"/>
              <a:t>Expected deliverables:</a:t>
            </a:r>
            <a:endParaRPr b="1" sz="28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600"/>
              <a:t>Predictive model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600"/>
              <a:t>Accuracy and precision evaluation</a:t>
            </a:r>
            <a:endParaRPr sz="2600"/>
          </a:p>
        </p:txBody>
      </p:sp>
      <p:sp>
        <p:nvSpPr>
          <p:cNvPr id="722" name="Google Shape;722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8" name="Google Shape;728;p98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Indoor Positioning System</a:t>
            </a:r>
            <a:endParaRPr/>
          </a:p>
        </p:txBody>
      </p:sp>
      <p:sp>
        <p:nvSpPr>
          <p:cNvPr id="729" name="Google Shape;729;p98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STAT410</a:t>
            </a:r>
            <a:endParaRPr/>
          </a:p>
        </p:txBody>
      </p:sp>
      <p:sp>
        <p:nvSpPr>
          <p:cNvPr id="730" name="Google Shape;730;p98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1" name="Google Shape;731;p98"/>
          <p:cNvSpPr txBox="1"/>
          <p:nvPr/>
        </p:nvSpPr>
        <p:spPr>
          <a:xfrm>
            <a:off x="516423" y="1584300"/>
            <a:ext cx="8430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Data Collection and Preprocessing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2" name="Google Shape;732;p98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Algorithms and Methods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3" name="Google Shape;733;p98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 and Visualizations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4" name="Google Shape;734;p98"/>
          <p:cNvSpPr txBox="1"/>
          <p:nvPr/>
        </p:nvSpPr>
        <p:spPr>
          <a:xfrm>
            <a:off x="516425" y="4102800"/>
            <a:ext cx="8312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Recommendations</a:t>
            </a: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 and Conclusion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5" name="Google Shape;735;p98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6" name="Google Shape;736;p98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7" name="Google Shape;737;p98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8" name="Google Shape;738;p98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9" name="Google Shape;739;p98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9"/>
          <p:cNvSpPr txBox="1"/>
          <p:nvPr>
            <p:ph idx="1" type="body"/>
          </p:nvPr>
        </p:nvSpPr>
        <p:spPr>
          <a:xfrm>
            <a:off x="0" y="1074200"/>
            <a:ext cx="2841900" cy="37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Floor plan ~ 15mx36m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Testing devices are connected to the network, taken to various locations and oriented in various directions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Testing device generates data by recording the signal strength of all access points</a:t>
            </a:r>
            <a:endParaRPr sz="1600"/>
          </a:p>
        </p:txBody>
      </p:sp>
      <p:sp>
        <p:nvSpPr>
          <p:cNvPr id="745" name="Google Shape;745;p9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Indoor </a:t>
            </a:r>
            <a:r>
              <a:rPr lang="en"/>
              <a:t>Positioning</a:t>
            </a:r>
            <a:r>
              <a:rPr lang="en"/>
              <a:t> </a:t>
            </a:r>
            <a:r>
              <a:rPr lang="en"/>
              <a:t>System</a:t>
            </a:r>
            <a:endParaRPr/>
          </a:p>
        </p:txBody>
      </p:sp>
      <p:sp>
        <p:nvSpPr>
          <p:cNvPr id="746" name="Google Shape;746;p99"/>
          <p:cNvSpPr txBox="1"/>
          <p:nvPr>
            <p:ph type="title"/>
          </p:nvPr>
        </p:nvSpPr>
        <p:spPr>
          <a:xfrm>
            <a:off x="197375" y="674250"/>
            <a:ext cx="87492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Setup</a:t>
            </a:r>
            <a:endParaRPr/>
          </a:p>
        </p:txBody>
      </p:sp>
      <p:pic>
        <p:nvPicPr>
          <p:cNvPr id="747" name="Google Shape;747;p9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5531" l="-2742" r="-4796" t="-5542"/>
          <a:stretch/>
        </p:blipFill>
        <p:spPr>
          <a:xfrm>
            <a:off x="3118475" y="1224650"/>
            <a:ext cx="5828100" cy="3164100"/>
          </a:xfrm>
          <a:prstGeom prst="round2DiagRect">
            <a:avLst>
              <a:gd fmla="val 16667" name="adj1"/>
              <a:gd fmla="val 0" name="adj2"/>
            </a:avLst>
          </a:prstGeom>
        </p:spPr>
      </p:pic>
      <p:sp>
        <p:nvSpPr>
          <p:cNvPr id="748" name="Google Shape;748;p9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STAT410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00"/>
          <p:cNvSpPr txBox="1"/>
          <p:nvPr>
            <p:ph type="title"/>
          </p:nvPr>
        </p:nvSpPr>
        <p:spPr>
          <a:xfrm>
            <a:off x="197400" y="196450"/>
            <a:ext cx="26352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Indoor Map</a:t>
            </a:r>
            <a:endParaRPr/>
          </a:p>
        </p:txBody>
      </p:sp>
      <p:sp>
        <p:nvSpPr>
          <p:cNvPr id="754" name="Google Shape;754;p100"/>
          <p:cNvSpPr txBox="1"/>
          <p:nvPr/>
        </p:nvSpPr>
        <p:spPr>
          <a:xfrm>
            <a:off x="2927300" y="462200"/>
            <a:ext cx="624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5" name="Google Shape;755;p100"/>
          <p:cNvSpPr txBox="1"/>
          <p:nvPr/>
        </p:nvSpPr>
        <p:spPr>
          <a:xfrm>
            <a:off x="197400" y="1019225"/>
            <a:ext cx="1860000" cy="39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ccess points are squares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Grey dots are offline data locations 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Black dots are online locations.</a:t>
            </a:r>
            <a:endParaRPr sz="17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56" name="Google Shape;756;p10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5531" l="-2742" r="-4796" t="-5542"/>
          <a:stretch/>
        </p:blipFill>
        <p:spPr>
          <a:xfrm>
            <a:off x="1917552" y="884725"/>
            <a:ext cx="7356000" cy="39936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Sets</a:t>
            </a:r>
            <a:endParaRPr/>
          </a:p>
        </p:txBody>
      </p:sp>
      <p:sp>
        <p:nvSpPr>
          <p:cNvPr id="762" name="Google Shape;762;p10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Offline Data (training)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700"/>
              <a:t>Source: offline.final.trace.txt</a:t>
            </a:r>
            <a:endParaRPr i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166 locations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Eight orientations were measured at each location in 45-degree increments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Every orientation combination was sampled 110 times. Each location was sampled 880 times total with the same device</a:t>
            </a:r>
            <a:endParaRPr sz="1700"/>
          </a:p>
        </p:txBody>
      </p:sp>
      <p:sp>
        <p:nvSpPr>
          <p:cNvPr id="763" name="Google Shape;763;p10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Online Data (testing)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700"/>
              <a:t>Source: online.final.trace.txt</a:t>
            </a:r>
            <a:endParaRPr i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Simulates real-word data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60 orientation combinations were chosen randomly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Each orientation combination was sampled 110 times, total of 6600 measurements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Format</a:t>
            </a:r>
            <a:endParaRPr/>
          </a:p>
        </p:txBody>
      </p:sp>
      <p:pic>
        <p:nvPicPr>
          <p:cNvPr id="769" name="Google Shape;76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529084"/>
            <a:ext cx="6467475" cy="1282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999577"/>
            <a:ext cx="6467476" cy="899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323300"/>
            <a:ext cx="646747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102"/>
          <p:cNvSpPr txBox="1"/>
          <p:nvPr/>
        </p:nvSpPr>
        <p:spPr>
          <a:xfrm>
            <a:off x="311700" y="1166725"/>
            <a:ext cx="458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Before Format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3" name="Google Shape;773;p102"/>
          <p:cNvSpPr txBox="1"/>
          <p:nvPr/>
        </p:nvSpPr>
        <p:spPr>
          <a:xfrm>
            <a:off x="311700" y="2938425"/>
            <a:ext cx="458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After Format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03"/>
          <p:cNvSpPr txBox="1"/>
          <p:nvPr>
            <p:ph idx="2" type="subTitle"/>
          </p:nvPr>
        </p:nvSpPr>
        <p:spPr>
          <a:xfrm>
            <a:off x="4406650" y="2119945"/>
            <a:ext cx="44097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Grouping device orientations into bins : 0°, 45°, 90°, 135°, 180°, 225°, 270°, 315°, </a:t>
            </a:r>
            <a:endParaRPr/>
          </a:p>
        </p:txBody>
      </p:sp>
      <p:sp>
        <p:nvSpPr>
          <p:cNvPr id="779" name="Google Shape;779;p103"/>
          <p:cNvSpPr txBox="1"/>
          <p:nvPr>
            <p:ph idx="1" type="subTitle"/>
          </p:nvPr>
        </p:nvSpPr>
        <p:spPr>
          <a:xfrm>
            <a:off x="4406650" y="1215150"/>
            <a:ext cx="4409700" cy="9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Converting timestamps to readable formats</a:t>
            </a:r>
            <a:endParaRPr/>
          </a:p>
        </p:txBody>
      </p:sp>
      <p:sp>
        <p:nvSpPr>
          <p:cNvPr id="780" name="Google Shape;780;p103"/>
          <p:cNvSpPr txBox="1"/>
          <p:nvPr>
            <p:ph type="title"/>
          </p:nvPr>
        </p:nvSpPr>
        <p:spPr>
          <a:xfrm>
            <a:off x="197375" y="1832775"/>
            <a:ext cx="40335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781" name="Google Shape;781;p103"/>
          <p:cNvSpPr txBox="1"/>
          <p:nvPr>
            <p:ph idx="6" type="subTitle"/>
          </p:nvPr>
        </p:nvSpPr>
        <p:spPr>
          <a:xfrm>
            <a:off x="4406650" y="4141275"/>
            <a:ext cx="4409700" cy="6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Filtering access points to retain only </a:t>
            </a:r>
            <a:r>
              <a:rPr lang="en"/>
              <a:t>relevant</a:t>
            </a:r>
            <a:r>
              <a:rPr lang="en"/>
              <a:t> data</a:t>
            </a:r>
            <a:endParaRPr/>
          </a:p>
        </p:txBody>
      </p:sp>
      <p:sp>
        <p:nvSpPr>
          <p:cNvPr id="782" name="Google Shape;782;p103"/>
          <p:cNvSpPr txBox="1"/>
          <p:nvPr>
            <p:ph idx="6" type="subTitle"/>
          </p:nvPr>
        </p:nvSpPr>
        <p:spPr>
          <a:xfrm>
            <a:off x="4406650" y="3316880"/>
            <a:ext cx="4409700" cy="8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</a:t>
            </a:r>
            <a:r>
              <a:rPr lang="en"/>
              <a:t>unnecessary/redundant</a:t>
            </a:r>
            <a:r>
              <a:rPr lang="en"/>
              <a:t> information</a:t>
            </a:r>
            <a:endParaRPr/>
          </a:p>
        </p:txBody>
      </p:sp>
      <p:sp>
        <p:nvSpPr>
          <p:cNvPr id="783" name="Google Shape;783;p103"/>
          <p:cNvSpPr txBox="1"/>
          <p:nvPr>
            <p:ph idx="1" type="subTitle"/>
          </p:nvPr>
        </p:nvSpPr>
        <p:spPr>
          <a:xfrm>
            <a:off x="4406650" y="310350"/>
            <a:ext cx="4539900" cy="9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observations with missing values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04"/>
          <p:cNvSpPr txBox="1"/>
          <p:nvPr>
            <p:ph type="title"/>
          </p:nvPr>
        </p:nvSpPr>
        <p:spPr>
          <a:xfrm>
            <a:off x="258350" y="2285400"/>
            <a:ext cx="3018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Noise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72">
                <a:latin typeface="Arial"/>
                <a:ea typeface="Arial"/>
                <a:cs typeface="Arial"/>
                <a:sym typeface="Arial"/>
              </a:rPr>
              <a:t>Offline dataset</a:t>
            </a:r>
            <a:endParaRPr b="0" sz="2672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9" name="Google Shape;789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200" y="0"/>
            <a:ext cx="4349176" cy="249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6200" y="2497600"/>
            <a:ext cx="4349175" cy="27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05"/>
          <p:cNvSpPr txBox="1"/>
          <p:nvPr/>
        </p:nvSpPr>
        <p:spPr>
          <a:xfrm>
            <a:off x="136375" y="2098500"/>
            <a:ext cx="327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Remove Noise</a:t>
            </a:r>
            <a:endParaRPr b="1" sz="31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Offline dataset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796" name="Google Shape;796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0637" y="80575"/>
            <a:ext cx="4391251" cy="249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0650" y="2571750"/>
            <a:ext cx="4391230" cy="24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3" name="Google Shape;803;p10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Indoor Positioning System</a:t>
            </a:r>
            <a:endParaRPr/>
          </a:p>
        </p:txBody>
      </p:sp>
      <p:sp>
        <p:nvSpPr>
          <p:cNvPr id="804" name="Google Shape;804;p106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STAT410</a:t>
            </a:r>
            <a:endParaRPr/>
          </a:p>
        </p:txBody>
      </p:sp>
      <p:sp>
        <p:nvSpPr>
          <p:cNvPr id="805" name="Google Shape;805;p106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06" name="Google Shape;806;p106"/>
          <p:cNvSpPr txBox="1"/>
          <p:nvPr/>
        </p:nvSpPr>
        <p:spPr>
          <a:xfrm>
            <a:off x="516423" y="1584300"/>
            <a:ext cx="8430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Data Collection and Preprocessing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07" name="Google Shape;807;p106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Algorithms and Methods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08" name="Google Shape;808;p106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 and Visualizations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09" name="Google Shape;809;p106"/>
          <p:cNvSpPr txBox="1"/>
          <p:nvPr/>
        </p:nvSpPr>
        <p:spPr>
          <a:xfrm>
            <a:off x="516423" y="4102800"/>
            <a:ext cx="8334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Recommendations</a:t>
            </a: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 and Conclusion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10" name="Google Shape;810;p106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11" name="Google Shape;811;p106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12" name="Google Shape;812;p106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13" name="Google Shape;813;p106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14" name="Google Shape;814;p106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07"/>
          <p:cNvSpPr txBox="1"/>
          <p:nvPr>
            <p:ph idx="1" type="body"/>
          </p:nvPr>
        </p:nvSpPr>
        <p:spPr>
          <a:xfrm>
            <a:off x="4572000" y="1208125"/>
            <a:ext cx="4095900" cy="33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000"/>
              <a:t>Trilateration using Least Squares Regression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10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821" name="Google Shape;821;p107"/>
          <p:cNvSpPr txBox="1"/>
          <p:nvPr>
            <p:ph idx="2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K-Nearest Neighbors (k-NN)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08"/>
          <p:cNvSpPr txBox="1"/>
          <p:nvPr>
            <p:ph idx="1" type="body"/>
          </p:nvPr>
        </p:nvSpPr>
        <p:spPr>
          <a:xfrm>
            <a:off x="4572000" y="1208125"/>
            <a:ext cx="4095900" cy="351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 simple, intuitive algorithm used for classification and regression tasks. It predicts outcomes based on the similarity of input data points to their closest neighbors in a dataset.</a:t>
            </a:r>
            <a:endParaRPr sz="19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In the context of </a:t>
            </a:r>
            <a:r>
              <a:rPr b="1"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indoor positioning systems</a:t>
            </a: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 KNN </a:t>
            </a: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Regression </a:t>
            </a: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is used to estimate distance between the device and the </a:t>
            </a: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based on signal strength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108"/>
          <p:cNvSpPr txBox="1"/>
          <p:nvPr>
            <p:ph type="title"/>
          </p:nvPr>
        </p:nvSpPr>
        <p:spPr>
          <a:xfrm>
            <a:off x="47970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828" name="Google Shape;828;p108"/>
          <p:cNvSpPr txBox="1"/>
          <p:nvPr>
            <p:ph idx="2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K-Nearest Neighbors Regression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09"/>
          <p:cNvSpPr txBox="1"/>
          <p:nvPr>
            <p:ph idx="1" type="body"/>
          </p:nvPr>
        </p:nvSpPr>
        <p:spPr>
          <a:xfrm>
            <a:off x="4572000" y="450025"/>
            <a:ext cx="4095900" cy="449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 b="1" sz="19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Compute the distance (e.g., Euclidean distance) between the target observation and all training observations.</a:t>
            </a:r>
            <a:endParaRPr sz="19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Identify the </a:t>
            </a:r>
            <a:r>
              <a:rPr b="1"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 nearest neighbors</a:t>
            </a: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(observations with the smallest distances).</a:t>
            </a:r>
            <a:endParaRPr sz="19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Predict the distance by averaging the positions of the k neighbors.</a:t>
            </a:r>
            <a:endParaRPr sz="19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Find the best K value gives the </a:t>
            </a: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most</a:t>
            </a: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accurate</a:t>
            </a: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prediction. </a:t>
            </a:r>
            <a:endParaRPr sz="19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09"/>
          <p:cNvSpPr txBox="1"/>
          <p:nvPr>
            <p:ph type="title"/>
          </p:nvPr>
        </p:nvSpPr>
        <p:spPr>
          <a:xfrm>
            <a:off x="483175" y="450025"/>
            <a:ext cx="28734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835" name="Google Shape;835;p109"/>
          <p:cNvSpPr txBox="1"/>
          <p:nvPr>
            <p:ph idx="2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K-Nearest Neighbors (k-NN)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NN algorithm formula and usage explained.&#10;----------------------------- &#10;Recommended to read along: Deep Learning An MIT Press book Ian Goodfellow and Yoshua Bengio and Aaron Courville https://www.deeplearningbook.org/&#10;Slides made in: Microsoft PowerPoint" id="840" name="Google Shape;840;p110" title="K-Nearest Neighbor Regressio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363" y="98375"/>
            <a:ext cx="8794225" cy="494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11"/>
          <p:cNvSpPr txBox="1"/>
          <p:nvPr>
            <p:ph type="title"/>
          </p:nvPr>
        </p:nvSpPr>
        <p:spPr>
          <a:xfrm>
            <a:off x="247500" y="450025"/>
            <a:ext cx="84915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846" name="Google Shape;846;p111"/>
          <p:cNvSpPr txBox="1"/>
          <p:nvPr>
            <p:ph idx="2" type="body"/>
          </p:nvPr>
        </p:nvSpPr>
        <p:spPr>
          <a:xfrm>
            <a:off x="247500" y="1208125"/>
            <a:ext cx="4324500" cy="33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 geometric approach to determine an object's position using distances from multiple reference points (e.g., Wi-Fi access points).</a:t>
            </a:r>
            <a:endParaRPr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Least Squares Regression</a:t>
            </a:r>
            <a:r>
              <a:rPr lang="en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is used in trilateration when measurements are noisy or inconsistent. It finds the best-fit solution by minimizing the error between observed distances and predicted distances based on the estimated position.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11"/>
          <p:cNvSpPr txBox="1"/>
          <p:nvPr>
            <p:ph idx="1" type="body"/>
          </p:nvPr>
        </p:nvSpPr>
        <p:spPr>
          <a:xfrm>
            <a:off x="4946725" y="1000000"/>
            <a:ext cx="39999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Trilateration using Least Squares Regression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1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853" name="Google Shape;853;p112"/>
          <p:cNvSpPr txBox="1"/>
          <p:nvPr>
            <p:ph idx="2" type="body"/>
          </p:nvPr>
        </p:nvSpPr>
        <p:spPr>
          <a:xfrm>
            <a:off x="247500" y="1208125"/>
            <a:ext cx="5070900" cy="33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 Known positions of access points (APs) and distances (calculated from signal strength) to the APs.</a:t>
            </a:r>
            <a:endParaRPr sz="1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Linearize</a:t>
            </a: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Reformulate as a linear system Ax=b where:</a:t>
            </a:r>
            <a:endParaRPr sz="1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A: From the </a:t>
            </a: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derived</a:t>
            </a: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system of equations (right side)</a:t>
            </a:r>
            <a:endParaRPr sz="1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 A 1x2 matrix with the x and y coordinate predictions</a:t>
            </a:r>
            <a:endParaRPr sz="1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b: </a:t>
            </a: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From the derived system of equations (left side)</a:t>
            </a:r>
            <a:endParaRPr sz="1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Solve for Position</a:t>
            </a: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Use least squares regression (pseudoinverse or direct matrix solution) to minimize the error between observed and predicted distances.</a:t>
            </a:r>
            <a:endParaRPr sz="1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12"/>
          <p:cNvSpPr txBox="1"/>
          <p:nvPr>
            <p:ph idx="1" type="body"/>
          </p:nvPr>
        </p:nvSpPr>
        <p:spPr>
          <a:xfrm>
            <a:off x="4946725" y="1081325"/>
            <a:ext cx="39999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Trilateration using Least Squares Regression</a:t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metimes, less is more. Any questions? Let me know in the chat below!" id="859" name="Google Shape;859;p113" title="I challenged myself to explain #LeastSquaresRegression in 60 seconds. How did I do?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363" y="116250"/>
            <a:ext cx="8730675" cy="491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5" name="Google Shape;865;p11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Indoor Positioning System</a:t>
            </a:r>
            <a:endParaRPr/>
          </a:p>
        </p:txBody>
      </p:sp>
      <p:sp>
        <p:nvSpPr>
          <p:cNvPr id="866" name="Google Shape;866;p114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STAT410</a:t>
            </a:r>
            <a:endParaRPr/>
          </a:p>
        </p:txBody>
      </p:sp>
      <p:sp>
        <p:nvSpPr>
          <p:cNvPr id="867" name="Google Shape;867;p114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68" name="Google Shape;868;p114"/>
          <p:cNvSpPr txBox="1"/>
          <p:nvPr/>
        </p:nvSpPr>
        <p:spPr>
          <a:xfrm>
            <a:off x="516423" y="1584300"/>
            <a:ext cx="8430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Data Collection and Preprocessing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69" name="Google Shape;869;p114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Algorithms and Methods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0" name="Google Shape;870;p114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 and Visualizations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1" name="Google Shape;871;p114"/>
          <p:cNvSpPr txBox="1"/>
          <p:nvPr/>
        </p:nvSpPr>
        <p:spPr>
          <a:xfrm>
            <a:off x="516423" y="4102800"/>
            <a:ext cx="8289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Recommendations</a:t>
            </a: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 and Conclusion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2" name="Google Shape;872;p114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3" name="Google Shape;873;p114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4" name="Google Shape;874;p114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5" name="Google Shape;875;p114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76" name="Google Shape;876;p114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15"/>
          <p:cNvSpPr txBox="1"/>
          <p:nvPr>
            <p:ph type="title"/>
          </p:nvPr>
        </p:nvSpPr>
        <p:spPr>
          <a:xfrm>
            <a:off x="197375" y="19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Root Mean Square Error (RMSE)?</a:t>
            </a:r>
            <a:endParaRPr/>
          </a:p>
        </p:txBody>
      </p:sp>
      <p:pic>
        <p:nvPicPr>
          <p:cNvPr id="882" name="Google Shape;882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5425" y="1851098"/>
            <a:ext cx="3541200" cy="22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115"/>
          <p:cNvSpPr txBox="1"/>
          <p:nvPr/>
        </p:nvSpPr>
        <p:spPr>
          <a:xfrm>
            <a:off x="197375" y="769150"/>
            <a:ext cx="51195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What is RMSE?</a:t>
            </a:r>
            <a:endParaRPr b="1"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RMSE is like a "report card" for how good or bad a model is at making predictions.</a:t>
            </a:r>
            <a:endParaRPr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It tells us how far off our predictions are from the actual values, on average.</a:t>
            </a:r>
            <a:endParaRPr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Why Do We Use It?</a:t>
            </a:r>
            <a:endParaRPr b="1"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Imagine you're throwing darts at a target. RMSE helps us measure how far our darts (predictions) land from the bullseye (actual value).</a:t>
            </a:r>
            <a:endParaRPr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It’s used to check the accuracy of systems like indoor positioning, where being close to the correct location is critical.</a:t>
            </a:r>
            <a:endParaRPr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How Does It Work?</a:t>
            </a:r>
            <a:endParaRPr b="1"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RMSE looks at the difference between the predicted and actual values.</a:t>
            </a:r>
            <a:endParaRPr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It squares these differences (to remove any negative signs), averages them, and then takes the square root.</a:t>
            </a:r>
            <a:endParaRPr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This gives us a single number that shows the typical error in the same units as the data (e.g., meters for distances).</a:t>
            </a:r>
            <a:endParaRPr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Key Insights:</a:t>
            </a:r>
            <a:endParaRPr b="1"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A smaller RMSE means the model is more accurate.</a:t>
            </a:r>
            <a:endParaRPr sz="1000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</a:rPr>
              <a:t>A larger RMSE indicates bigger errors and less accurate predictions.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16"/>
          <p:cNvSpPr txBox="1"/>
          <p:nvPr>
            <p:ph idx="1" type="body"/>
          </p:nvPr>
        </p:nvSpPr>
        <p:spPr>
          <a:xfrm>
            <a:off x="6062325" y="2423325"/>
            <a:ext cx="2763000" cy="225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/>
              <a:t>Closest Routers W</a:t>
            </a:r>
            <a:r>
              <a:rPr b="1" lang="en" sz="1400" u="sng"/>
              <a:t>ith Device Facing Router</a:t>
            </a:r>
            <a:endParaRPr b="1" sz="1400" u="sng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RMSE for KNN model: 3.18282388244569</a:t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The RMSE of the least squares method is: 4.81</a:t>
            </a:r>
            <a:endParaRPr sz="1400"/>
          </a:p>
        </p:txBody>
      </p:sp>
      <p:sp>
        <p:nvSpPr>
          <p:cNvPr id="889" name="Google Shape;889;p116"/>
          <p:cNvSpPr txBox="1"/>
          <p:nvPr>
            <p:ph idx="2" type="body"/>
          </p:nvPr>
        </p:nvSpPr>
        <p:spPr>
          <a:xfrm>
            <a:off x="3270350" y="2799475"/>
            <a:ext cx="2571300" cy="198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400" u="sng"/>
              <a:t>Closest Routers With Strongest Signal</a:t>
            </a:r>
            <a:endParaRPr b="1" sz="1400" u="sng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400"/>
              <a:t>RMSE for KNN model: 3.77678311088506</a:t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400"/>
              <a:t>The RMSE of the least squares method is: 6.27</a:t>
            </a:r>
            <a:endParaRPr sz="1400"/>
          </a:p>
          <a:p>
            <a:pPr indent="0" lvl="0" marL="0" rtl="0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16"/>
          <p:cNvSpPr txBox="1"/>
          <p:nvPr/>
        </p:nvSpPr>
        <p:spPr>
          <a:xfrm>
            <a:off x="286675" y="2770825"/>
            <a:ext cx="2763000" cy="20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All Data</a:t>
            </a:r>
            <a:endParaRPr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RMSE for KNN model: 5.55568311498002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RMSE of the least squares method is: 12.71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91" name="Google Shape;891;p116"/>
          <p:cNvSpPr txBox="1"/>
          <p:nvPr/>
        </p:nvSpPr>
        <p:spPr>
          <a:xfrm>
            <a:off x="430900" y="325475"/>
            <a:ext cx="3006600" cy="25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Unique location/Mac address using the median signal</a:t>
            </a:r>
            <a:endParaRPr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RMSE for KNN model: 5.78666918342235 </a:t>
            </a:r>
            <a:b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(when k = 17)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RMSE of the least squares method is: 12.51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92" name="Google Shape;892;p116"/>
          <p:cNvSpPr txBox="1"/>
          <p:nvPr/>
        </p:nvSpPr>
        <p:spPr>
          <a:xfrm>
            <a:off x="3885075" y="1120175"/>
            <a:ext cx="4836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Which method of reducing noise is better based on the RMSE??</a:t>
            </a:r>
            <a:endParaRPr sz="2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Exploration!</a:t>
            </a:r>
            <a:endParaRPr/>
          </a:p>
        </p:txBody>
      </p:sp>
      <p:pic>
        <p:nvPicPr>
          <p:cNvPr id="898" name="Google Shape;898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975" y="1126075"/>
            <a:ext cx="635604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 Sample of the Data Set we…</a:t>
            </a:r>
            <a:endParaRPr/>
          </a:p>
        </p:txBody>
      </p:sp>
      <p:sp>
        <p:nvSpPr>
          <p:cNvPr id="904" name="Google Shape;904;p1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Proved that orientation recordings are based on polar coordinates.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That there is a strong correlation between distance and signal strength. (distance = space between the device and router)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influence of the orientation on the signal strength is present.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There is more exploration of the orientations potential role in predicting distance that needs to be done.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Identified the coordinates of the routers where there measurement were taken (there were other access points)</a:t>
            </a:r>
            <a:endParaRPr sz="1800"/>
          </a:p>
        </p:txBody>
      </p:sp>
      <p:pic>
        <p:nvPicPr>
          <p:cNvPr id="905" name="Google Shape;905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824" y="3500099"/>
            <a:ext cx="2894350" cy="15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562" y="71336"/>
            <a:ext cx="7042875" cy="393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700" y="4116937"/>
            <a:ext cx="7520101" cy="8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6" name="Google Shape;916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19" y="0"/>
            <a:ext cx="833436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50" y="0"/>
            <a:ext cx="83343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6" name="Google Shape;926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987"/>
            <a:ext cx="9144000" cy="502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" name="Google Shape;931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75" y="23375"/>
            <a:ext cx="9060649" cy="509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24"/>
          <p:cNvSpPr txBox="1"/>
          <p:nvPr>
            <p:ph type="title"/>
          </p:nvPr>
        </p:nvSpPr>
        <p:spPr>
          <a:xfrm>
            <a:off x="311700" y="196450"/>
            <a:ext cx="8520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the KNN Regression Model!</a:t>
            </a:r>
            <a:endParaRPr/>
          </a:p>
        </p:txBody>
      </p:sp>
      <p:sp>
        <p:nvSpPr>
          <p:cNvPr id="937" name="Google Shape;937;p124"/>
          <p:cNvSpPr txBox="1"/>
          <p:nvPr>
            <p:ph idx="1" type="body"/>
          </p:nvPr>
        </p:nvSpPr>
        <p:spPr>
          <a:xfrm>
            <a:off x="311700" y="906313"/>
            <a:ext cx="8520600" cy="3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100">
                <a:latin typeface="Merriweather"/>
                <a:ea typeface="Merriweather"/>
                <a:cs typeface="Merriweather"/>
                <a:sym typeface="Merriweather"/>
              </a:rPr>
              <a:t>K-Nearest Neighbor Regression Result with K = 15</a:t>
            </a:r>
            <a:endParaRPr b="1" sz="21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25"/>
          <p:cNvSpPr txBox="1"/>
          <p:nvPr/>
        </p:nvSpPr>
        <p:spPr>
          <a:xfrm>
            <a:off x="1158750" y="277625"/>
            <a:ext cx="6826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43" name="Google Shape;943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21425"/>
            <a:ext cx="9144000" cy="5100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it mean? </a:t>
            </a:r>
            <a:endParaRPr/>
          </a:p>
        </p:txBody>
      </p:sp>
      <p:sp>
        <p:nvSpPr>
          <p:cNvPr id="949" name="Google Shape;949;p1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error of the model is greater in certain </a:t>
            </a:r>
            <a:r>
              <a:rPr lang="en" sz="1800"/>
              <a:t>observation</a:t>
            </a:r>
            <a:r>
              <a:rPr lang="en" sz="1800"/>
              <a:t> groupings and lesser in </a:t>
            </a:r>
            <a:r>
              <a:rPr lang="en" sz="1800"/>
              <a:t>the</a:t>
            </a:r>
            <a:r>
              <a:rPr lang="en" sz="1800"/>
              <a:t> others. We should identify if the how the observation groupings relate to each other.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Like where the recordings taken near each other? And if so what could be causing greater </a:t>
            </a:r>
            <a:r>
              <a:rPr lang="en" sz="1800"/>
              <a:t>errors in the predictions (like obstacles?) 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961" y="0"/>
            <a:ext cx="795808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the Distribution of the Residuals?</a:t>
            </a:r>
            <a:endParaRPr/>
          </a:p>
        </p:txBody>
      </p:sp>
      <p:sp>
        <p:nvSpPr>
          <p:cNvPr id="960" name="Google Shape;960;p1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At the center is it normally distributed. 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The lower left (extreme negative values) and upper right (extreme positive values), the points deviate from the line. This could be a cause for concern a further testing </a:t>
            </a:r>
            <a:r>
              <a:rPr lang="en" sz="1900"/>
              <a:t>researching</a:t>
            </a:r>
            <a:r>
              <a:rPr lang="en" sz="1900"/>
              <a:t> are needed. (Like how does partial </a:t>
            </a:r>
            <a:r>
              <a:rPr lang="en" sz="1900"/>
              <a:t>normality</a:t>
            </a:r>
            <a:r>
              <a:rPr lang="en" sz="1900"/>
              <a:t> affect the model? Maybe we need to transform the data?)</a:t>
            </a:r>
            <a:endParaRPr sz="19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5" name="Google Shape;965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38" y="0"/>
            <a:ext cx="90665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spread of the residuals</a:t>
            </a:r>
            <a:endParaRPr/>
          </a:p>
        </p:txBody>
      </p:sp>
      <p:sp>
        <p:nvSpPr>
          <p:cNvPr id="971" name="Google Shape;971;p1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This plot has some </a:t>
            </a:r>
            <a:r>
              <a:rPr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mild </a:t>
            </a:r>
            <a:r>
              <a:rPr b="1" lang="en" sz="19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heteroscedasticity. </a:t>
            </a:r>
            <a:r>
              <a:rPr lang="en" sz="1800"/>
              <a:t>We can see at the lower end (predicted values around 4–6) and the higher end (around 14–16), the residuals appear slightly more spread out. It’s not severe but we </a:t>
            </a:r>
            <a:r>
              <a:rPr lang="en" sz="1800"/>
              <a:t>should</a:t>
            </a:r>
            <a:r>
              <a:rPr lang="en" sz="1800"/>
              <a:t> do some further investigation and research.</a:t>
            </a:r>
            <a:r>
              <a:rPr lang="en" sz="1900"/>
              <a:t> </a:t>
            </a:r>
            <a:endParaRPr sz="19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3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the Least Squares Model?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Google Shape;981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950" y="0"/>
            <a:ext cx="795809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950" y="0"/>
            <a:ext cx="795809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1" name="Google Shape;991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7" y="98225"/>
            <a:ext cx="9126117" cy="494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8438"/>
            <a:ext cx="9144000" cy="480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38" y="0"/>
            <a:ext cx="906652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7" name="Google Shape;1007;p137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Indoor Positioning System</a:t>
            </a:r>
            <a:endParaRPr/>
          </a:p>
        </p:txBody>
      </p:sp>
      <p:sp>
        <p:nvSpPr>
          <p:cNvPr id="1008" name="Google Shape;1008;p137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STAT410</a:t>
            </a:r>
            <a:endParaRPr/>
          </a:p>
        </p:txBody>
      </p:sp>
      <p:sp>
        <p:nvSpPr>
          <p:cNvPr id="1009" name="Google Shape;1009;p137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0" name="Google Shape;1010;p137"/>
          <p:cNvSpPr txBox="1"/>
          <p:nvPr/>
        </p:nvSpPr>
        <p:spPr>
          <a:xfrm>
            <a:off x="516423" y="1584300"/>
            <a:ext cx="8430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Data Collection and Preprocessing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1" name="Google Shape;1011;p137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Algorithms and Methods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2" name="Google Shape;1012;p137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 and Visualizations</a:t>
            </a:r>
            <a:endParaRPr b="1" sz="3650">
              <a:solidFill>
                <a:schemeClr val="l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3" name="Google Shape;1013;p137"/>
          <p:cNvSpPr txBox="1"/>
          <p:nvPr/>
        </p:nvSpPr>
        <p:spPr>
          <a:xfrm>
            <a:off x="516423" y="4102800"/>
            <a:ext cx="8356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Recommendations</a:t>
            </a: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and Conclusion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4" name="Google Shape;1014;p137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5" name="Google Shape;1015;p137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6" name="Google Shape;1016;p137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7" name="Google Shape;1017;p137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8" name="Google Shape;1018;p137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38"/>
          <p:cNvSpPr txBox="1"/>
          <p:nvPr>
            <p:ph idx="1" type="body"/>
          </p:nvPr>
        </p:nvSpPr>
        <p:spPr>
          <a:xfrm>
            <a:off x="366725" y="1663876"/>
            <a:ext cx="3838500" cy="12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988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80"/>
              <a:buChar char="●"/>
            </a:pPr>
            <a:r>
              <a:rPr lang="en" sz="1280"/>
              <a:t>Effectively we able to predict the location by up to 4.8m (16ft), which is not very </a:t>
            </a:r>
            <a:r>
              <a:rPr lang="en" sz="1280"/>
              <a:t>accurate. Further adjustments will need to be made. </a:t>
            </a:r>
            <a:endParaRPr sz="1280"/>
          </a:p>
          <a:p>
            <a:pPr indent="-30988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80"/>
              <a:buChar char="●"/>
            </a:pPr>
            <a:r>
              <a:rPr lang="en" sz="1280"/>
              <a:t>Using orientation-based filtering and selecting the three closest routers improved the accuracy significantly.</a:t>
            </a:r>
            <a:endParaRPr sz="1280"/>
          </a:p>
        </p:txBody>
      </p:sp>
      <p:sp>
        <p:nvSpPr>
          <p:cNvPr id="1024" name="Google Shape;1024;p138"/>
          <p:cNvSpPr txBox="1"/>
          <p:nvPr>
            <p:ph idx="2" type="body"/>
          </p:nvPr>
        </p:nvSpPr>
        <p:spPr>
          <a:xfrm>
            <a:off x="4938725" y="1664000"/>
            <a:ext cx="3838500" cy="12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353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80"/>
              <a:buChar char="●"/>
            </a:pPr>
            <a:r>
              <a:rPr lang="en" sz="1180"/>
              <a:t>A clear relationship was observed between signal strength and distance, confirming the feasibility of using signal strength as a predictor for indoor positioning.</a:t>
            </a:r>
            <a:endParaRPr sz="1180"/>
          </a:p>
          <a:p>
            <a:pPr indent="-30353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80"/>
              <a:buChar char="●"/>
            </a:pPr>
            <a:r>
              <a:rPr lang="en" sz="1180"/>
              <a:t>Orientation of the device influences signal strength, highlighting the importance of accounting for directional effects in predictive modeling.</a:t>
            </a:r>
            <a:endParaRPr sz="1180"/>
          </a:p>
        </p:txBody>
      </p:sp>
      <p:sp>
        <p:nvSpPr>
          <p:cNvPr id="1025" name="Google Shape;1025;p138"/>
          <p:cNvSpPr txBox="1"/>
          <p:nvPr>
            <p:ph idx="3" type="body"/>
          </p:nvPr>
        </p:nvSpPr>
        <p:spPr>
          <a:xfrm>
            <a:off x="366750" y="3553475"/>
            <a:ext cx="3838500" cy="12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68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0"/>
              <a:buChar char="●"/>
            </a:pPr>
            <a:r>
              <a:rPr lang="en" sz="1390"/>
              <a:t>Noise filtering, such as removing outliers and irrelevant access points, improved the predictive accuracy of both methods.</a:t>
            </a:r>
            <a:endParaRPr sz="1390"/>
          </a:p>
          <a:p>
            <a:pPr indent="-3168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0"/>
              <a:buChar char="●"/>
            </a:pPr>
            <a:r>
              <a:rPr lang="en" sz="1390"/>
              <a:t>However, residual noise and obstacles in the environment remain challenges, impacting prediction reliability.</a:t>
            </a:r>
            <a:endParaRPr sz="1390"/>
          </a:p>
        </p:txBody>
      </p:sp>
      <p:sp>
        <p:nvSpPr>
          <p:cNvPr id="1026" name="Google Shape;1026;p138"/>
          <p:cNvSpPr txBox="1"/>
          <p:nvPr>
            <p:ph idx="4" type="body"/>
          </p:nvPr>
        </p:nvSpPr>
        <p:spPr>
          <a:xfrm>
            <a:off x="4938750" y="3553475"/>
            <a:ext cx="3838500" cy="12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05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0"/>
              <a:buChar char="●"/>
            </a:pPr>
            <a:r>
              <a:rPr lang="en" sz="1290"/>
              <a:t>KNN is simple to implement and effective for scenarios with clean, well-labeled data.</a:t>
            </a:r>
            <a:endParaRPr sz="1290"/>
          </a:p>
          <a:p>
            <a:pPr indent="-3105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0"/>
              <a:buChar char="●"/>
            </a:pPr>
            <a:r>
              <a:rPr lang="en" sz="1290"/>
              <a:t>Trilateration using Least Squares Regression works well in scenarios with minimal noise but is sensitive to outliers and signal variability.</a:t>
            </a:r>
            <a:endParaRPr sz="1290"/>
          </a:p>
        </p:txBody>
      </p:sp>
      <p:sp>
        <p:nvSpPr>
          <p:cNvPr id="1027" name="Google Shape;1027;p1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28" name="Google Shape;1028;p138"/>
          <p:cNvSpPr txBox="1"/>
          <p:nvPr>
            <p:ph idx="5" type="subTitle"/>
          </p:nvPr>
        </p:nvSpPr>
        <p:spPr>
          <a:xfrm>
            <a:off x="366775" y="1277902"/>
            <a:ext cx="3838500" cy="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Performance of Models</a:t>
            </a:r>
            <a:endParaRPr sz="2200"/>
          </a:p>
        </p:txBody>
      </p:sp>
      <p:sp>
        <p:nvSpPr>
          <p:cNvPr id="1029" name="Google Shape;1029;p138"/>
          <p:cNvSpPr txBox="1"/>
          <p:nvPr>
            <p:ph idx="6" type="subTitle"/>
          </p:nvPr>
        </p:nvSpPr>
        <p:spPr>
          <a:xfrm>
            <a:off x="4938750" y="1277902"/>
            <a:ext cx="3838500" cy="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Key Insights from Data</a:t>
            </a:r>
            <a:endParaRPr sz="2200"/>
          </a:p>
        </p:txBody>
      </p:sp>
      <p:sp>
        <p:nvSpPr>
          <p:cNvPr id="1030" name="Google Shape;1030;p138"/>
          <p:cNvSpPr txBox="1"/>
          <p:nvPr>
            <p:ph idx="7" type="subTitle"/>
          </p:nvPr>
        </p:nvSpPr>
        <p:spPr>
          <a:xfrm>
            <a:off x="4938750" y="3167373"/>
            <a:ext cx="3838500" cy="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Strengths and Limitations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138"/>
          <p:cNvSpPr txBox="1"/>
          <p:nvPr>
            <p:ph idx="8" type="subTitle"/>
          </p:nvPr>
        </p:nvSpPr>
        <p:spPr>
          <a:xfrm>
            <a:off x="366750" y="3167372"/>
            <a:ext cx="3838500" cy="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Noise Reduction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39"/>
          <p:cNvSpPr txBox="1"/>
          <p:nvPr>
            <p:ph idx="2" type="body"/>
          </p:nvPr>
        </p:nvSpPr>
        <p:spPr>
          <a:xfrm>
            <a:off x="4572000" y="556900"/>
            <a:ext cx="42051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287">
                <a:solidFill>
                  <a:schemeClr val="hlink"/>
                </a:solidFill>
              </a:rPr>
              <a:t>What factors might be causing inaccuracies in the model? Could it be due to:</a:t>
            </a:r>
            <a:endParaRPr sz="1287">
              <a:solidFill>
                <a:schemeClr val="hlink"/>
              </a:solidFill>
            </a:endParaRPr>
          </a:p>
          <a:p>
            <a:pPr indent="-310356" lvl="0" marL="45720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288"/>
              <a:buFont typeface="Arial"/>
              <a:buChar char="●"/>
            </a:pPr>
            <a:r>
              <a:rPr b="1" lang="en" sz="1287">
                <a:solidFill>
                  <a:schemeClr val="hlink"/>
                </a:solidFill>
              </a:rPr>
              <a:t>Heteroscedasticity</a:t>
            </a:r>
            <a:r>
              <a:rPr lang="en" sz="1287">
                <a:solidFill>
                  <a:schemeClr val="hlink"/>
                </a:solidFill>
              </a:rPr>
              <a:t> (i.e., unequal variance in the signal data)?</a:t>
            </a:r>
            <a:endParaRPr sz="1287">
              <a:solidFill>
                <a:schemeClr val="hlink"/>
              </a:solidFill>
            </a:endParaRPr>
          </a:p>
          <a:p>
            <a:pPr indent="-310356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88"/>
              <a:buFont typeface="Arial"/>
              <a:buChar char="●"/>
            </a:pPr>
            <a:r>
              <a:rPr lang="en" sz="1287">
                <a:solidFill>
                  <a:schemeClr val="hlink"/>
                </a:solidFill>
              </a:rPr>
              <a:t>Physical </a:t>
            </a:r>
            <a:r>
              <a:rPr b="1" lang="en" sz="1287">
                <a:solidFill>
                  <a:schemeClr val="hlink"/>
                </a:solidFill>
              </a:rPr>
              <a:t>obstacles</a:t>
            </a:r>
            <a:r>
              <a:rPr lang="en" sz="1287">
                <a:solidFill>
                  <a:schemeClr val="hlink"/>
                </a:solidFill>
              </a:rPr>
              <a:t> in the building interfering with signal strength?</a:t>
            </a:r>
            <a:endParaRPr sz="1287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475"/>
          </a:p>
        </p:txBody>
      </p:sp>
      <p:sp>
        <p:nvSpPr>
          <p:cNvPr id="1037" name="Google Shape;1037;p13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385"/>
              <a:t>Since we are working with a sample of the data, how can we ensure it is representative of the entire dataset? Are there biases or limitations in the sample that could affect the model’s performance?</a:t>
            </a:r>
            <a:endParaRPr sz="13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385"/>
          </a:p>
        </p:txBody>
      </p:sp>
      <p:sp>
        <p:nvSpPr>
          <p:cNvPr id="1038" name="Google Shape;1038;p13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can we effectively reduce noise in the training dataset to improve the model's predictive accuracy? What preprocessing techniques might help?</a:t>
            </a:r>
            <a:endParaRPr/>
          </a:p>
        </p:txBody>
      </p:sp>
      <p:sp>
        <p:nvSpPr>
          <p:cNvPr id="1039" name="Google Shape;1039;p139"/>
          <p:cNvSpPr txBox="1"/>
          <p:nvPr>
            <p:ph idx="4" type="body"/>
          </p:nvPr>
        </p:nvSpPr>
        <p:spPr>
          <a:xfrm>
            <a:off x="4572125" y="3877550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does the orientation of the device affect signal strength? Should orientation play a more significant role in the model's predictions, and how can we account for its impact?</a:t>
            </a:r>
            <a:endParaRPr/>
          </a:p>
        </p:txBody>
      </p:sp>
      <p:sp>
        <p:nvSpPr>
          <p:cNvPr id="1040" name="Google Shape;1040;p139"/>
          <p:cNvSpPr txBox="1"/>
          <p:nvPr>
            <p:ph type="title"/>
          </p:nvPr>
        </p:nvSpPr>
        <p:spPr>
          <a:xfrm>
            <a:off x="366750" y="450025"/>
            <a:ext cx="23118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Concerns</a:t>
            </a:r>
            <a:endParaRPr/>
          </a:p>
        </p:txBody>
      </p:sp>
      <p:sp>
        <p:nvSpPr>
          <p:cNvPr id="1041" name="Google Shape;1041;p13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Ensuring the Sample Appropriateness</a:t>
            </a:r>
            <a:endParaRPr b="1" sz="1500"/>
          </a:p>
        </p:txBody>
      </p:sp>
      <p:sp>
        <p:nvSpPr>
          <p:cNvPr id="1042" name="Google Shape;1042;p139"/>
          <p:cNvSpPr txBox="1"/>
          <p:nvPr>
            <p:ph idx="6" type="subTitle"/>
          </p:nvPr>
        </p:nvSpPr>
        <p:spPr>
          <a:xfrm>
            <a:off x="4572125" y="196450"/>
            <a:ext cx="44106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Potential Factors Affecting the Model's Performance</a:t>
            </a:r>
            <a:endParaRPr b="1" sz="1200"/>
          </a:p>
        </p:txBody>
      </p:sp>
      <p:sp>
        <p:nvSpPr>
          <p:cNvPr id="1043" name="Google Shape;1043;p139"/>
          <p:cNvSpPr txBox="1"/>
          <p:nvPr>
            <p:ph idx="7" type="subTitle"/>
          </p:nvPr>
        </p:nvSpPr>
        <p:spPr>
          <a:xfrm>
            <a:off x="4572136" y="3396338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Role of Orientation in Signal Strength</a:t>
            </a:r>
            <a:endParaRPr b="1" sz="1500"/>
          </a:p>
        </p:txBody>
      </p:sp>
      <p:sp>
        <p:nvSpPr>
          <p:cNvPr id="1044" name="Google Shape;1044;p13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Noise Reduction in the Training Set</a:t>
            </a:r>
            <a:endParaRPr b="1" sz="1600"/>
          </a:p>
        </p:txBody>
      </p:sp>
      <p:sp>
        <p:nvSpPr>
          <p:cNvPr id="1045" name="Google Shape;1045;p139"/>
          <p:cNvSpPr txBox="1"/>
          <p:nvPr/>
        </p:nvSpPr>
        <p:spPr>
          <a:xfrm>
            <a:off x="4572125" y="2186850"/>
            <a:ext cx="441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Exploring Alternative Variables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6" name="Google Shape;1046;p139"/>
          <p:cNvSpPr txBox="1"/>
          <p:nvPr/>
        </p:nvSpPr>
        <p:spPr>
          <a:xfrm>
            <a:off x="4572125" y="2571750"/>
            <a:ext cx="441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Could other variables, such as channel frequency or timestamp, be used for predicting locations more effectively than signal strength alone?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140"/>
          <p:cNvSpPr txBox="1"/>
          <p:nvPr>
            <p:ph idx="2" type="body"/>
          </p:nvPr>
        </p:nvSpPr>
        <p:spPr>
          <a:xfrm>
            <a:off x="3347725" y="1732900"/>
            <a:ext cx="2455500" cy="30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hlink"/>
                </a:solidFill>
              </a:rPr>
              <a:t>Obstacle Mapping</a:t>
            </a:r>
            <a:r>
              <a:rPr lang="en" sz="1300">
                <a:solidFill>
                  <a:schemeClr val="hlink"/>
                </a:solidFill>
              </a:rPr>
              <a:t>: Identify and map potential obstacles (e.g., walls, furniture) that could affect signal strength.</a:t>
            </a:r>
            <a:endParaRPr sz="1300">
              <a:solidFill>
                <a:schemeClr val="hlink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hlink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hlink"/>
              </a:solidFill>
            </a:endParaRPr>
          </a:p>
        </p:txBody>
      </p:sp>
      <p:sp>
        <p:nvSpPr>
          <p:cNvPr id="1052" name="Google Shape;1052;p140"/>
          <p:cNvSpPr txBox="1"/>
          <p:nvPr>
            <p:ph idx="4294967295" type="title"/>
          </p:nvPr>
        </p:nvSpPr>
        <p:spPr>
          <a:xfrm>
            <a:off x="311700" y="196450"/>
            <a:ext cx="81846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053" name="Google Shape;1053;p140"/>
          <p:cNvSpPr txBox="1"/>
          <p:nvPr>
            <p:ph idx="1" type="body"/>
          </p:nvPr>
        </p:nvSpPr>
        <p:spPr>
          <a:xfrm>
            <a:off x="483175" y="1733050"/>
            <a:ext cx="2455500" cy="30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/>
              <a:t>A hybrid approach could use trilateration to narrow down a general area and then use KNN for finer predictions within that area. For example:</a:t>
            </a:r>
            <a:endParaRPr sz="12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AutoNum type="arabicPeriod"/>
            </a:pPr>
            <a:r>
              <a:rPr lang="en" sz="1200"/>
              <a:t>Use trilateration to predict a rough location based on access points.</a:t>
            </a:r>
            <a:endParaRPr sz="12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AutoNum type="arabicPeriod"/>
            </a:pPr>
            <a:r>
              <a:rPr lang="en" sz="1200"/>
              <a:t>Refine the prediction using KNN based on nearby labeled data points.</a:t>
            </a:r>
            <a:endParaRPr sz="1200"/>
          </a:p>
        </p:txBody>
      </p:sp>
      <p:sp>
        <p:nvSpPr>
          <p:cNvPr id="1054" name="Google Shape;1054;p140"/>
          <p:cNvSpPr txBox="1"/>
          <p:nvPr>
            <p:ph idx="3" type="body"/>
          </p:nvPr>
        </p:nvSpPr>
        <p:spPr>
          <a:xfrm>
            <a:off x="6212275" y="1732900"/>
            <a:ext cx="2455500" cy="30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Potential Algorithms</a:t>
            </a:r>
            <a:r>
              <a:rPr lang="en" sz="1300">
                <a:solidFill>
                  <a:schemeClr val="hlink"/>
                </a:solidFill>
              </a:rPr>
              <a:t>:</a:t>
            </a:r>
            <a:endParaRPr sz="1300">
              <a:solidFill>
                <a:schemeClr val="hlink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hlink"/>
                </a:solidFill>
              </a:rPr>
              <a:t>Random Forest</a:t>
            </a:r>
            <a:r>
              <a:rPr lang="en" sz="1300">
                <a:solidFill>
                  <a:schemeClr val="hlink"/>
                </a:solidFill>
              </a:rPr>
              <a:t>: Combines multiple decision trees to improve accuracy and handle noisy data effectively.</a:t>
            </a:r>
            <a:endParaRPr sz="1300">
              <a:solidFill>
                <a:schemeClr val="hlink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hlink"/>
                </a:solidFill>
              </a:rPr>
              <a:t>Neural Networks</a:t>
            </a:r>
            <a:r>
              <a:rPr lang="en" sz="1300">
                <a:solidFill>
                  <a:schemeClr val="hlink"/>
                </a:solidFill>
              </a:rPr>
              <a:t>: Can model complex, nonlinear relationships in the data and adapt to diverse environments.</a:t>
            </a:r>
            <a:endParaRPr sz="1200"/>
          </a:p>
        </p:txBody>
      </p:sp>
      <p:sp>
        <p:nvSpPr>
          <p:cNvPr id="1055" name="Google Shape;1055;p140"/>
          <p:cNvSpPr txBox="1"/>
          <p:nvPr>
            <p:ph idx="4" type="subTitle"/>
          </p:nvPr>
        </p:nvSpPr>
        <p:spPr>
          <a:xfrm>
            <a:off x="483175" y="9545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Explore Hybrid Methods Combining KNN and Trilateration</a:t>
            </a:r>
            <a:endParaRPr b="1" sz="1400"/>
          </a:p>
        </p:txBody>
      </p:sp>
      <p:sp>
        <p:nvSpPr>
          <p:cNvPr id="1056" name="Google Shape;1056;p140"/>
          <p:cNvSpPr txBox="1"/>
          <p:nvPr>
            <p:ph idx="5" type="subTitle"/>
          </p:nvPr>
        </p:nvSpPr>
        <p:spPr>
          <a:xfrm>
            <a:off x="3347725" y="9545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Investigate Additional Factors like Environmental Obstacles 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or Multi-Floor Layouts</a:t>
            </a:r>
            <a:endParaRPr b="1" sz="1200"/>
          </a:p>
        </p:txBody>
      </p:sp>
      <p:sp>
        <p:nvSpPr>
          <p:cNvPr id="1057" name="Google Shape;1057;p140"/>
          <p:cNvSpPr txBox="1"/>
          <p:nvPr>
            <p:ph idx="6" type="subTitle"/>
          </p:nvPr>
        </p:nvSpPr>
        <p:spPr>
          <a:xfrm>
            <a:off x="6212275" y="9545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Experiment with Other Machine Learning Algorithms</a:t>
            </a:r>
            <a:endParaRPr b="1" sz="1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1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Teixeira-Pinto, A. (2022, July 23). </a:t>
            </a:r>
            <a:r>
              <a:rPr i="1"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Machine Learning for Biostatistics</a:t>
            </a: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 2 K-nearest Neighbours Regression. https://bookdown.org/tpinto_home/Regression-and-Classification/k-nearest-neighbours-regression.html </a:t>
            </a:r>
            <a:endParaRPr sz="1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Uniwide WIFI based Positioning System | IEEE conference publication | IEEE Xplore. (n.d.). https://ieeexplore.ieee.org/abstract/document/5514639/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An adaptive K-nearest neighbor algorithm | IEEE conference publication | IEEE Xplore. (n.d.-a). https://ieeexplore.ieee.org/abstract/document/5569740/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Holtz, Y. (n.d.). </a:t>
            </a:r>
            <a:r>
              <a:rPr i="1"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Help and inspiration for R charts</a:t>
            </a:r>
            <a:r>
              <a:rPr lang="en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 The R Graph Gallery. https://r-graph-gallery.com/ 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1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roup/Class Project #1">
  <a:themeElements>
    <a:clrScheme name="Simple Light">
      <a:dk1>
        <a:srgbClr val="000000"/>
      </a:dk1>
      <a:lt1>
        <a:srgbClr val="D2DE9C"/>
      </a:lt1>
      <a:dk2>
        <a:srgbClr val="F3DFA5"/>
      </a:dk2>
      <a:lt2>
        <a:srgbClr val="DBEFF1"/>
      </a:lt2>
      <a:accent1>
        <a:srgbClr val="FD5E48"/>
      </a:accent1>
      <a:accent2>
        <a:srgbClr val="E6C2D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8C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